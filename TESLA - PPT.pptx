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7" r:id="rId2"/>
    <p:sldId id="274" r:id="rId3"/>
    <p:sldId id="275" r:id="rId4"/>
    <p:sldId id="276" r:id="rId5"/>
    <p:sldId id="261" r:id="rId6"/>
    <p:sldId id="260" r:id="rId7"/>
    <p:sldId id="262" r:id="rId8"/>
    <p:sldId id="277" r:id="rId9"/>
    <p:sldId id="278" r:id="rId10"/>
    <p:sldId id="265" r:id="rId11"/>
    <p:sldId id="267" r:id="rId12"/>
    <p:sldId id="279" r:id="rId13"/>
    <p:sldId id="268" r:id="rId14"/>
    <p:sldId id="269" r:id="rId15"/>
    <p:sldId id="271" r:id="rId16"/>
    <p:sldId id="280" r:id="rId17"/>
    <p:sldId id="281" r:id="rId18"/>
    <p:sldId id="282" r:id="rId19"/>
    <p:sldId id="283" r:id="rId20"/>
    <p:sldId id="273" r:id="rId21"/>
    <p:sldId id="284" r:id="rId22"/>
    <p:sldId id="285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526" autoAdjust="0"/>
    <p:restoredTop sz="94660"/>
  </p:normalViewPr>
  <p:slideViewPr>
    <p:cSldViewPr snapToGrid="0">
      <p:cViewPr varScale="1">
        <p:scale>
          <a:sx n="41" d="100"/>
          <a:sy n="41" d="100"/>
        </p:scale>
        <p:origin x="38" y="5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4589BB-853D-4892-8CD5-DB847EF3B6E5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AF5ECA-2981-4D48-A2BF-674CABF9ED8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94291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AF5ECA-2981-4D48-A2BF-674CABF9ED88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184902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AF5ECA-2981-4D48-A2BF-674CABF9ED88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441617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23E3C-BC01-79D6-0105-AFB72C8789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4FC7AAF-8B14-0229-E4FA-E77FF60090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775D90-1E81-7537-A28B-3310AA23F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F9AA3-2EE2-454A-9B26-DC73DE51EA5D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B32541-3DE1-F820-0BB4-D88F1D551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342795-E1C7-FAC8-2BED-EC3E36475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27468-9B4F-4493-867F-79D29422935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60192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AD6A89-40B0-2920-85F2-B6CB3E0213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562BF6-B9ED-064F-C52F-AFF3052ADC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215E8B-5878-48A0-1636-9E4773200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F9AA3-2EE2-454A-9B26-DC73DE51EA5D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343864-2F80-C4C0-4379-11FFF45ED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6C250F-56A0-444E-F30A-20F0993125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27468-9B4F-4493-867F-79D29422935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316950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3F6D5-2C34-3FFB-022B-3B14DD2CC7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779BB8-E71C-2B7F-E7DE-73FD1E894D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136DF0-7D80-0BFE-AA39-07C521610A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F9AA3-2EE2-454A-9B26-DC73DE51EA5D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AE6B46-91B1-12E7-13A0-89B5216ED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84D7D7-FFD9-8042-2284-6FBE5EA22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27468-9B4F-4493-867F-79D29422935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00336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9D260-0A84-C0B4-83B7-BC772B6D7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FEFA5D-F182-602F-F310-78250BFAC2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CA6992-0116-C91B-BC5A-F182FF569E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FB3ACF-2E4E-9E25-1DBF-92EDEC894F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F9AA3-2EE2-454A-9B26-DC73DE51EA5D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AB56DB-3F4F-C4F0-9DF4-5AB8A69C1A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45B2FC-2B19-2F2C-AEAC-047C739B0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27468-9B4F-4493-867F-79D29422935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58151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D4766-D8FC-ACE8-5781-5B7E955AE2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A25E1F-4A58-A1CA-57A0-A76C1C175C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5D5722-50A8-0363-88C7-9197A77E05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63B42C-88E6-85DF-C3C0-5EFFC92091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97353-8411-9013-D993-DF36665D94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163688A-8BF3-BC54-6447-63FA02F90B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F9AA3-2EE2-454A-9B26-DC73DE51EA5D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CC319D-C018-E92E-1ECA-2C9084BB96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C9BC43-4220-FB04-87EE-365EA2789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27468-9B4F-4493-867F-79D29422935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645308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A3EB6-33E6-8D14-12F9-45B01C391E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E198AB8-CFBF-C018-D5C3-D01E06A49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F9AA3-2EE2-454A-9B26-DC73DE51EA5D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43CC4E-4A38-7ACB-3D0F-A33F678D24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863A9CC-A929-EFCB-DDA4-36B4518E9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27468-9B4F-4493-867F-79D29422935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356755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6F3364-FD8A-27DC-92DF-E4ADA11EA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F9AA3-2EE2-454A-9B26-DC73DE51EA5D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4432ED5-C5A7-481E-E236-6C00159258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26BB9D-1B99-82FC-F688-A03DDDB71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27468-9B4F-4493-867F-79D29422935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21260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B2A43A-949C-F25B-689C-88B06DFEF3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DA21E0-7612-97D2-99E8-ABD2EDCC63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63ADE4-728F-70AC-43EE-10589B9353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BAA9DF-C7D5-55FD-1967-547BD9ABE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F9AA3-2EE2-454A-9B26-DC73DE51EA5D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74A2E0-74AA-B8F7-9742-E61FD94561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84A475-1E25-4068-72D4-05B1C4B0C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27468-9B4F-4493-867F-79D29422935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83102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2E47F4-4339-8940-220E-CE3765BEDC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F7D946-375E-D5C2-9DE4-F645AA43BE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6C289A-F324-56D4-0A9C-F79AB56B8F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3B5E54-67DB-9F0B-D83C-33299668B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F9AA3-2EE2-454A-9B26-DC73DE51EA5D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2EE809-45B1-1B96-4C74-234869CC2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4855DC-044B-B342-24F3-58A16AC0D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27468-9B4F-4493-867F-79D29422935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577530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EDB215-BE4C-C993-EA4D-C418BE840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B4F73CB-6B89-7051-2E05-BBE05D1F89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91C931-98CD-15F3-0FBB-3F79FA277F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F9AA3-2EE2-454A-9B26-DC73DE51EA5D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18B969-5C04-2785-B728-A696AD76B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E6F74E-84CF-CFAA-7FCD-DAFD86D1C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27468-9B4F-4493-867F-79D29422935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361775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84F8C1B-60A1-5003-47BA-687647351F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E7EA89-1233-4EE6-E6C1-D54161B273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5BFADD-4CF6-A949-6EB2-4CEF172B98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3F9AA3-2EE2-454A-9B26-DC73DE51EA5D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3A9F54-8C16-1231-C38A-48B5A98D0C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F8391-8FB5-0746-5A0C-999C9A6B2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27468-9B4F-4493-867F-79D29422935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858568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F44C645-BF17-492A-B11C-9C5178F38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1AF500-5936-BBB8-2BA8-6BA8554BE7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B823D8-ED6C-3E8E-A419-D5A89EBE1C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3F9AA3-2EE2-454A-9B26-DC73DE51EA5D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A5480C-F411-B924-7131-8DC30E15F3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C5A6B5-3B2E-9BC5-FDA0-3105016350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027468-9B4F-4493-867F-79D29422935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447360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2AC70C3-25BD-6356-1E9F-2DB246B083D7}"/>
              </a:ext>
            </a:extLst>
          </p:cNvPr>
          <p:cNvSpPr txBox="1">
            <a:spLocks/>
          </p:cNvSpPr>
          <p:nvPr/>
        </p:nvSpPr>
        <p:spPr>
          <a:xfrm>
            <a:off x="1150069" y="1040087"/>
            <a:ext cx="10086681" cy="71988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44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8581C00-DF9C-9B3D-9EC1-F8505CB1377B}"/>
              </a:ext>
            </a:extLst>
          </p:cNvPr>
          <p:cNvSpPr txBox="1">
            <a:spLocks/>
          </p:cNvSpPr>
          <p:nvPr/>
        </p:nvSpPr>
        <p:spPr>
          <a:xfrm>
            <a:off x="1150069" y="2121031"/>
            <a:ext cx="10086681" cy="43293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DOMAIN –   </a:t>
            </a:r>
            <a:r>
              <a:rPr lang="en-IN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FINANCIAL ANALYTICS</a:t>
            </a:r>
          </a:p>
          <a:p>
            <a:endParaRPr lang="en-IN" b="1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b="1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Presented By</a:t>
            </a:r>
          </a:p>
          <a:p>
            <a:r>
              <a:rPr lang="en-IN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KEERTHANA A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A3E81F8-A42B-B8E1-C675-E20C44E72E5D}"/>
              </a:ext>
            </a:extLst>
          </p:cNvPr>
          <p:cNvSpPr/>
          <p:nvPr/>
        </p:nvSpPr>
        <p:spPr>
          <a:xfrm>
            <a:off x="1676400" y="754134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TESLA STOCK PRICE PREDICTION</a:t>
            </a:r>
          </a:p>
          <a:p>
            <a:r>
              <a:rPr lang="en-US" sz="320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USING DEEP LEARNING (SimpleRNN &amp; LSTM</a:t>
            </a:r>
            <a:r>
              <a:rPr lang="en-US" sz="400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2917586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1">
            <a:extLst>
              <a:ext uri="{FF2B5EF4-FFF2-40B4-BE49-F238E27FC236}">
                <a16:creationId xmlns:a16="http://schemas.microsoft.com/office/drawing/2014/main" id="{1C3B0BBD-9F8E-4D9D-0B9E-8BD7DA97463E}"/>
              </a:ext>
            </a:extLst>
          </p:cNvPr>
          <p:cNvSpPr/>
          <p:nvPr/>
        </p:nvSpPr>
        <p:spPr>
          <a:xfrm>
            <a:off x="311332" y="279111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OVERVIEW</a:t>
            </a:r>
            <a:endParaRPr lang="en-US" sz="2000" dirty="0"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0ED1C7F9-0A23-A4DC-328E-A9B2AA6F5D80}"/>
              </a:ext>
            </a:extLst>
          </p:cNvPr>
          <p:cNvSpPr/>
          <p:nvPr/>
        </p:nvSpPr>
        <p:spPr>
          <a:xfrm>
            <a:off x="4556761" y="124669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Problem &amp; Dataset</a:t>
            </a:r>
            <a:endParaRPr lang="en-US" sz="20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D0D91411-30C5-4ED6-10B0-8B870BEA536F}"/>
              </a:ext>
            </a:extLst>
          </p:cNvPr>
          <p:cNvSpPr/>
          <p:nvPr/>
        </p:nvSpPr>
        <p:spPr>
          <a:xfrm>
            <a:off x="4478385" y="2197907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Data Cleaning &amp; EDA</a:t>
            </a:r>
            <a:endParaRPr lang="en-US" sz="20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817A91C7-D76D-045E-E35B-B3E4C02F7B30}"/>
              </a:ext>
            </a:extLst>
          </p:cNvPr>
          <p:cNvSpPr/>
          <p:nvPr/>
        </p:nvSpPr>
        <p:spPr>
          <a:xfrm>
            <a:off x="4362996" y="3143738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Feature Prep &amp; Sequencing</a:t>
            </a:r>
            <a:endParaRPr lang="en-US" sz="20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31769A00-9292-9713-CF20-5AAE913D16AC}"/>
              </a:ext>
            </a:extLst>
          </p:cNvPr>
          <p:cNvSpPr/>
          <p:nvPr/>
        </p:nvSpPr>
        <p:spPr>
          <a:xfrm>
            <a:off x="4251962" y="4205858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SimpleRNN &amp; LSTM Models</a:t>
            </a:r>
            <a:endParaRPr lang="en-US" sz="20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9D08D40C-2708-FDD4-B086-41EFA765D4D8}"/>
              </a:ext>
            </a:extLst>
          </p:cNvPr>
          <p:cNvSpPr/>
          <p:nvPr/>
        </p:nvSpPr>
        <p:spPr>
          <a:xfrm>
            <a:off x="4617722" y="5190171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Tuning &amp; Forecasting</a:t>
            </a:r>
            <a:endParaRPr lang="en-US" sz="20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E553484E-BAA7-6F19-9718-F082340A1B7B}"/>
              </a:ext>
            </a:extLst>
          </p:cNvPr>
          <p:cNvSpPr/>
          <p:nvPr/>
        </p:nvSpPr>
        <p:spPr>
          <a:xfrm>
            <a:off x="4251962" y="6174484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NLP Sentiment &amp; Conclusion</a:t>
            </a:r>
            <a:endParaRPr lang="en-US" sz="20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Arrow: Down 31">
            <a:extLst>
              <a:ext uri="{FF2B5EF4-FFF2-40B4-BE49-F238E27FC236}">
                <a16:creationId xmlns:a16="http://schemas.microsoft.com/office/drawing/2014/main" id="{28CE0C6F-1483-D534-38A7-10E07C24C976}"/>
              </a:ext>
            </a:extLst>
          </p:cNvPr>
          <p:cNvSpPr/>
          <p:nvPr/>
        </p:nvSpPr>
        <p:spPr>
          <a:xfrm>
            <a:off x="5538652" y="1686117"/>
            <a:ext cx="278674" cy="442558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200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3" name="Arrow: Down 32">
            <a:extLst>
              <a:ext uri="{FF2B5EF4-FFF2-40B4-BE49-F238E27FC236}">
                <a16:creationId xmlns:a16="http://schemas.microsoft.com/office/drawing/2014/main" id="{425D34FD-97FE-D368-8E5C-76717B20F66A}"/>
              </a:ext>
            </a:extLst>
          </p:cNvPr>
          <p:cNvSpPr/>
          <p:nvPr/>
        </p:nvSpPr>
        <p:spPr>
          <a:xfrm>
            <a:off x="5538652" y="2641392"/>
            <a:ext cx="278674" cy="442558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200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4" name="Arrow: Down 33">
            <a:extLst>
              <a:ext uri="{FF2B5EF4-FFF2-40B4-BE49-F238E27FC236}">
                <a16:creationId xmlns:a16="http://schemas.microsoft.com/office/drawing/2014/main" id="{986B77E9-B647-8F37-A475-F5BB31F649B0}"/>
              </a:ext>
            </a:extLst>
          </p:cNvPr>
          <p:cNvSpPr/>
          <p:nvPr/>
        </p:nvSpPr>
        <p:spPr>
          <a:xfrm>
            <a:off x="5538652" y="3647011"/>
            <a:ext cx="278674" cy="442558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200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5" name="Arrow: Down 34">
            <a:extLst>
              <a:ext uri="{FF2B5EF4-FFF2-40B4-BE49-F238E27FC236}">
                <a16:creationId xmlns:a16="http://schemas.microsoft.com/office/drawing/2014/main" id="{C5CFAAB9-E8CF-7DEB-5DB0-83E8ED31FCC7}"/>
              </a:ext>
            </a:extLst>
          </p:cNvPr>
          <p:cNvSpPr/>
          <p:nvPr/>
        </p:nvSpPr>
        <p:spPr>
          <a:xfrm>
            <a:off x="5599612" y="4685179"/>
            <a:ext cx="278674" cy="442558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200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6" name="Arrow: Down 35">
            <a:extLst>
              <a:ext uri="{FF2B5EF4-FFF2-40B4-BE49-F238E27FC236}">
                <a16:creationId xmlns:a16="http://schemas.microsoft.com/office/drawing/2014/main" id="{ECE22A4A-99D0-73AE-A80F-0F8047E3555A}"/>
              </a:ext>
            </a:extLst>
          </p:cNvPr>
          <p:cNvSpPr/>
          <p:nvPr/>
        </p:nvSpPr>
        <p:spPr>
          <a:xfrm>
            <a:off x="5660573" y="5771223"/>
            <a:ext cx="278674" cy="442558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200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514600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 1">
            <a:extLst>
              <a:ext uri="{FF2B5EF4-FFF2-40B4-BE49-F238E27FC236}">
                <a16:creationId xmlns:a16="http://schemas.microsoft.com/office/drawing/2014/main" id="{C7801A1A-5E1D-32EE-0353-6CC23A34B40B}"/>
              </a:ext>
            </a:extLst>
          </p:cNvPr>
          <p:cNvSpPr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</a:rPr>
              <a:t>PREDICTING TESLA’S CLOSING PRICE</a:t>
            </a:r>
            <a:endParaRPr lang="en-US" sz="3000" dirty="0"/>
          </a:p>
          <a:p>
            <a:pPr marL="0" indent="0" algn="ctr">
              <a:buNone/>
            </a:pPr>
            <a:endParaRPr lang="en-US" sz="3000" dirty="0">
              <a:solidFill>
                <a:schemeClr val="accent1"/>
              </a:solidFill>
            </a:endParaRPr>
          </a:p>
        </p:txBody>
      </p:sp>
      <p:sp>
        <p:nvSpPr>
          <p:cNvPr id="60" name="Shape 21">
            <a:extLst>
              <a:ext uri="{FF2B5EF4-FFF2-40B4-BE49-F238E27FC236}">
                <a16:creationId xmlns:a16="http://schemas.microsoft.com/office/drawing/2014/main" id="{9AE72F23-23A7-C4D7-BB94-8954DA1DD09E}"/>
              </a:ext>
            </a:extLst>
          </p:cNvPr>
          <p:cNvSpPr/>
          <p:nvPr/>
        </p:nvSpPr>
        <p:spPr>
          <a:xfrm>
            <a:off x="6791211" y="1820837"/>
            <a:ext cx="2377440" cy="1371600"/>
          </a:xfrm>
          <a:prstGeom prst="roundRect">
            <a:avLst>
              <a:gd name="adj" fmla="val 5333"/>
            </a:avLst>
          </a:prstGeom>
          <a:solidFill>
            <a:srgbClr val="F4F7F9"/>
          </a:solidFill>
          <a:ln w="12700">
            <a:solidFill>
              <a:schemeClr val="accent1"/>
            </a:solidFill>
            <a:prstDash val="solid"/>
          </a:ln>
          <a:effectLst>
            <a:outerShdw blurRad="76200" dist="25400" dir="5400000" algn="bl" rotWithShape="0">
              <a:srgbClr val="888888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1" name="Text 22">
            <a:extLst>
              <a:ext uri="{FF2B5EF4-FFF2-40B4-BE49-F238E27FC236}">
                <a16:creationId xmlns:a16="http://schemas.microsoft.com/office/drawing/2014/main" id="{8987AD8A-5F31-2DAF-C5C7-6AFDE43C5A63}"/>
              </a:ext>
            </a:extLst>
          </p:cNvPr>
          <p:cNvSpPr/>
          <p:nvPr/>
        </p:nvSpPr>
        <p:spPr>
          <a:xfrm>
            <a:off x="6699771" y="1796341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latin typeface="Cambria" pitchFamily="34" charset="0"/>
                <a:ea typeface="Cambria" pitchFamily="34" charset="-122"/>
              </a:rPr>
              <a:t>7 </a:t>
            </a:r>
            <a:endParaRPr lang="en-US" sz="3000" dirty="0"/>
          </a:p>
        </p:txBody>
      </p:sp>
      <p:sp>
        <p:nvSpPr>
          <p:cNvPr id="62" name="Text 23">
            <a:extLst>
              <a:ext uri="{FF2B5EF4-FFF2-40B4-BE49-F238E27FC236}">
                <a16:creationId xmlns:a16="http://schemas.microsoft.com/office/drawing/2014/main" id="{8B023599-0013-64BF-2B49-F59669CA16CF}"/>
              </a:ext>
            </a:extLst>
          </p:cNvPr>
          <p:cNvSpPr/>
          <p:nvPr/>
        </p:nvSpPr>
        <p:spPr>
          <a:xfrm>
            <a:off x="6998599" y="258205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Column: Date,Open,High,Low , close, Adj close, Volume  </a:t>
            </a:r>
            <a:endParaRPr lang="en-US" sz="1100" dirty="0"/>
          </a:p>
        </p:txBody>
      </p:sp>
      <p:sp>
        <p:nvSpPr>
          <p:cNvPr id="63" name="Shape 24">
            <a:extLst>
              <a:ext uri="{FF2B5EF4-FFF2-40B4-BE49-F238E27FC236}">
                <a16:creationId xmlns:a16="http://schemas.microsoft.com/office/drawing/2014/main" id="{A5C0112F-B199-729F-CDEA-2548DB27CA7C}"/>
              </a:ext>
            </a:extLst>
          </p:cNvPr>
          <p:cNvSpPr/>
          <p:nvPr/>
        </p:nvSpPr>
        <p:spPr>
          <a:xfrm>
            <a:off x="9478696" y="1820837"/>
            <a:ext cx="2194560" cy="1371600"/>
          </a:xfrm>
          <a:prstGeom prst="roundRect">
            <a:avLst>
              <a:gd name="adj" fmla="val 5333"/>
            </a:avLst>
          </a:prstGeom>
          <a:solidFill>
            <a:srgbClr val="F4F7F9"/>
          </a:solidFill>
          <a:ln w="12700">
            <a:solidFill>
              <a:schemeClr val="accent1"/>
            </a:solidFill>
            <a:prstDash val="solid"/>
          </a:ln>
          <a:effectLst>
            <a:outerShdw blurRad="76200" dist="25400" dir="5400000" algn="bl" rotWithShape="0">
              <a:srgbClr val="888888">
                <a:alpha val="15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64" name="Text 25">
            <a:extLst>
              <a:ext uri="{FF2B5EF4-FFF2-40B4-BE49-F238E27FC236}">
                <a16:creationId xmlns:a16="http://schemas.microsoft.com/office/drawing/2014/main" id="{DEB1E3DE-FAC9-21A4-630C-0C15DAC59DC2}"/>
              </a:ext>
            </a:extLst>
          </p:cNvPr>
          <p:cNvSpPr/>
          <p:nvPr/>
        </p:nvSpPr>
        <p:spPr>
          <a:xfrm>
            <a:off x="9478696" y="1749594"/>
            <a:ext cx="21945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2010-2020</a:t>
            </a:r>
            <a:endParaRPr lang="en-US" sz="3000" dirty="0"/>
          </a:p>
        </p:txBody>
      </p:sp>
      <p:sp>
        <p:nvSpPr>
          <p:cNvPr id="65" name="Text 26">
            <a:extLst>
              <a:ext uri="{FF2B5EF4-FFF2-40B4-BE49-F238E27FC236}">
                <a16:creationId xmlns:a16="http://schemas.microsoft.com/office/drawing/2014/main" id="{F2CE8034-0519-6131-5E68-95E356589FCC}"/>
              </a:ext>
            </a:extLst>
          </p:cNvPr>
          <p:cNvSpPr/>
          <p:nvPr/>
        </p:nvSpPr>
        <p:spPr>
          <a:xfrm>
            <a:off x="9545628" y="2526834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Data range covered</a:t>
            </a:r>
            <a:endParaRPr lang="en-US" sz="1100" dirty="0"/>
          </a:p>
        </p:txBody>
      </p:sp>
      <p:sp>
        <p:nvSpPr>
          <p:cNvPr id="66" name="Shape 27">
            <a:extLst>
              <a:ext uri="{FF2B5EF4-FFF2-40B4-BE49-F238E27FC236}">
                <a16:creationId xmlns:a16="http://schemas.microsoft.com/office/drawing/2014/main" id="{1A1EEFE9-BBCB-29A7-3EEC-D4A32F693986}"/>
              </a:ext>
            </a:extLst>
          </p:cNvPr>
          <p:cNvSpPr/>
          <p:nvPr/>
        </p:nvSpPr>
        <p:spPr>
          <a:xfrm>
            <a:off x="6815719" y="3227378"/>
            <a:ext cx="2377440" cy="1371600"/>
          </a:xfrm>
          <a:prstGeom prst="roundRect">
            <a:avLst>
              <a:gd name="adj" fmla="val 5333"/>
            </a:avLst>
          </a:prstGeom>
          <a:solidFill>
            <a:srgbClr val="F4F7F9"/>
          </a:solidFill>
          <a:ln w="12700">
            <a:solidFill>
              <a:schemeClr val="accent1"/>
            </a:solidFill>
            <a:prstDash val="solid"/>
          </a:ln>
          <a:effectLst>
            <a:outerShdw blurRad="76200" dist="25400" dir="5400000" algn="bl" rotWithShape="0">
              <a:srgbClr val="888888">
                <a:alpha val="15000"/>
              </a:srgbClr>
            </a:outerShdw>
          </a:effectLst>
        </p:spPr>
        <p:txBody>
          <a:bodyPr/>
          <a:lstStyle/>
          <a:p>
            <a:endParaRPr lang="en-IN" dirty="0"/>
          </a:p>
        </p:txBody>
      </p:sp>
      <p:sp>
        <p:nvSpPr>
          <p:cNvPr id="67" name="Text 28">
            <a:extLst>
              <a:ext uri="{FF2B5EF4-FFF2-40B4-BE49-F238E27FC236}">
                <a16:creationId xmlns:a16="http://schemas.microsoft.com/office/drawing/2014/main" id="{A3D33C19-C243-9ACB-D8AB-DA3E205E0AA7}"/>
              </a:ext>
            </a:extLst>
          </p:cNvPr>
          <p:cNvSpPr/>
          <p:nvPr/>
        </p:nvSpPr>
        <p:spPr>
          <a:xfrm>
            <a:off x="6699771" y="3204084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2,416</a:t>
            </a:r>
            <a:endParaRPr lang="en-US" sz="3000" dirty="0"/>
          </a:p>
        </p:txBody>
      </p:sp>
      <p:sp>
        <p:nvSpPr>
          <p:cNvPr id="68" name="Text 29">
            <a:extLst>
              <a:ext uri="{FF2B5EF4-FFF2-40B4-BE49-F238E27FC236}">
                <a16:creationId xmlns:a16="http://schemas.microsoft.com/office/drawing/2014/main" id="{B2B38654-4888-C75B-6664-D84001B05167}"/>
              </a:ext>
            </a:extLst>
          </p:cNvPr>
          <p:cNvSpPr/>
          <p:nvPr/>
        </p:nvSpPr>
        <p:spPr>
          <a:xfrm>
            <a:off x="6845738" y="4044724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Daily records</a:t>
            </a:r>
            <a:endParaRPr lang="en-US" sz="1100" dirty="0"/>
          </a:p>
        </p:txBody>
      </p:sp>
      <p:sp>
        <p:nvSpPr>
          <p:cNvPr id="69" name="Shape 30">
            <a:extLst>
              <a:ext uri="{FF2B5EF4-FFF2-40B4-BE49-F238E27FC236}">
                <a16:creationId xmlns:a16="http://schemas.microsoft.com/office/drawing/2014/main" id="{02CE0434-8864-B8C6-31CE-748A0F069FA9}"/>
              </a:ext>
            </a:extLst>
          </p:cNvPr>
          <p:cNvSpPr/>
          <p:nvPr/>
        </p:nvSpPr>
        <p:spPr>
          <a:xfrm>
            <a:off x="9478696" y="3235234"/>
            <a:ext cx="2194560" cy="1371600"/>
          </a:xfrm>
          <a:prstGeom prst="roundRect">
            <a:avLst>
              <a:gd name="adj" fmla="val 5333"/>
            </a:avLst>
          </a:prstGeom>
          <a:solidFill>
            <a:srgbClr val="F4F7F9"/>
          </a:solidFill>
          <a:ln w="12700">
            <a:solidFill>
              <a:schemeClr val="accent1"/>
            </a:solidFill>
            <a:prstDash val="solid"/>
          </a:ln>
          <a:effectLst>
            <a:outerShdw blurRad="76200" dist="25400" dir="5400000" algn="bl" rotWithShape="0">
              <a:srgbClr val="888888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70" name="Text 31">
            <a:extLst>
              <a:ext uri="{FF2B5EF4-FFF2-40B4-BE49-F238E27FC236}">
                <a16:creationId xmlns:a16="http://schemas.microsoft.com/office/drawing/2014/main" id="{0A5EA2B9-597B-B138-805A-24038BECFD1C}"/>
              </a:ext>
            </a:extLst>
          </p:cNvPr>
          <p:cNvSpPr/>
          <p:nvPr/>
        </p:nvSpPr>
        <p:spPr>
          <a:xfrm>
            <a:off x="9420105" y="3291653"/>
            <a:ext cx="21945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latin typeface="Cambria" pitchFamily="34" charset="0"/>
                <a:ea typeface="Cambria" pitchFamily="34" charset="-122"/>
              </a:rPr>
              <a:t>0</a:t>
            </a:r>
            <a:endParaRPr lang="en-US" sz="3000" dirty="0"/>
          </a:p>
        </p:txBody>
      </p:sp>
      <p:sp>
        <p:nvSpPr>
          <p:cNvPr id="71" name="Text 32">
            <a:extLst>
              <a:ext uri="{FF2B5EF4-FFF2-40B4-BE49-F238E27FC236}">
                <a16:creationId xmlns:a16="http://schemas.microsoft.com/office/drawing/2014/main" id="{3E522E7E-9CD9-04E2-81FC-89FCEBB226EB}"/>
              </a:ext>
            </a:extLst>
          </p:cNvPr>
          <p:cNvSpPr/>
          <p:nvPr/>
        </p:nvSpPr>
        <p:spPr>
          <a:xfrm>
            <a:off x="9478696" y="4204744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 / </a:t>
            </a:r>
          </a:p>
          <a:p>
            <a:pPr marL="0" indent="0" algn="ctr">
              <a:buNone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duplicates found </a:t>
            </a:r>
            <a:endParaRPr lang="en-US" sz="1100" dirty="0"/>
          </a:p>
        </p:txBody>
      </p:sp>
      <p:sp>
        <p:nvSpPr>
          <p:cNvPr id="73" name="Text 34">
            <a:extLst>
              <a:ext uri="{FF2B5EF4-FFF2-40B4-BE49-F238E27FC236}">
                <a16:creationId xmlns:a16="http://schemas.microsoft.com/office/drawing/2014/main" id="{EAA0993D-841C-D01A-AFAE-BDAB0D53BB39}"/>
              </a:ext>
            </a:extLst>
          </p:cNvPr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6078A65-3198-9768-CE09-ECD3B6D1F029}"/>
              </a:ext>
            </a:extLst>
          </p:cNvPr>
          <p:cNvSpPr txBox="1"/>
          <p:nvPr/>
        </p:nvSpPr>
        <p:spPr>
          <a:xfrm>
            <a:off x="512331" y="1796341"/>
            <a:ext cx="6096000" cy="1451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333333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Build deep learning models that learn from Tesla's historical price history and forecast the Adjusted Close price 1, 5, and 10 days into the future — then compare SimpleRNN against LSTM to see which architecture generalizes better.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D5F71943-55D0-3F04-9D6C-A282FB0B177C}"/>
              </a:ext>
            </a:extLst>
          </p:cNvPr>
          <p:cNvSpPr/>
          <p:nvPr/>
        </p:nvSpPr>
        <p:spPr>
          <a:xfrm>
            <a:off x="888274" y="4583632"/>
            <a:ext cx="6230983" cy="6129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&amp; explore the daily OHLCV data (2010–2020)</a:t>
            </a:r>
          </a:p>
          <a:p>
            <a:endParaRPr lang="en-US" sz="1300" dirty="0">
              <a:solidFill>
                <a:srgbClr val="333333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 a 60-day sliding window as model input</a:t>
            </a:r>
            <a:endParaRPr lang="en-US" sz="1300" dirty="0"/>
          </a:p>
          <a:p>
            <a:endParaRPr lang="en-US" sz="1300" dirty="0">
              <a:solidFill>
                <a:srgbClr val="333333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SimpleRNN and LSTM for 3 forecast horizons</a:t>
            </a:r>
          </a:p>
          <a:p>
            <a:endParaRPr lang="en-US" sz="1300" dirty="0">
              <a:solidFill>
                <a:srgbClr val="333333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hyperparameters with GridSearchCV</a:t>
            </a:r>
          </a:p>
          <a:p>
            <a:endParaRPr lang="en-US" sz="1300" dirty="0">
              <a:solidFill>
                <a:srgbClr val="333333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an NLP layer: headline sentiment vs. returns</a:t>
            </a:r>
            <a:endParaRPr lang="en-US" sz="1300" dirty="0"/>
          </a:p>
          <a:p>
            <a:endParaRPr lang="en-US" sz="1300" dirty="0"/>
          </a:p>
          <a:p>
            <a:endParaRPr lang="en-US" sz="1300" dirty="0"/>
          </a:p>
          <a:p>
            <a:pPr marL="0" indent="0">
              <a:buNone/>
            </a:pP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33937533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1">
            <a:extLst>
              <a:ext uri="{FF2B5EF4-FFF2-40B4-BE49-F238E27FC236}">
                <a16:creationId xmlns:a16="http://schemas.microsoft.com/office/drawing/2014/main" id="{55B9DD7F-317B-1208-57DC-4829A8E15CF5}"/>
              </a:ext>
            </a:extLst>
          </p:cNvPr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CLEANING &amp; PREPARATION</a:t>
            </a:r>
            <a:endParaRPr lang="en-US" sz="3000" dirty="0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06C84C6A-38A2-E90A-0C5A-ED6D56311ABF}"/>
              </a:ext>
            </a:extLst>
          </p:cNvPr>
          <p:cNvSpPr/>
          <p:nvPr/>
        </p:nvSpPr>
        <p:spPr>
          <a:xfrm>
            <a:off x="548640" y="173736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F4F8FA"/>
          </a:solidFill>
          <a:ln w="12700">
            <a:solidFill>
              <a:srgbClr val="E3EAEE"/>
            </a:solidFill>
            <a:prstDash val="solid"/>
          </a:ln>
        </p:spPr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EDDC4D41-CD74-3482-76C5-ABA385C98632}"/>
              </a:ext>
            </a:extLst>
          </p:cNvPr>
          <p:cNvSpPr/>
          <p:nvPr/>
        </p:nvSpPr>
        <p:spPr>
          <a:xfrm>
            <a:off x="777240" y="1993392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F9C01248-62E1-E55E-ECC9-4F5364320611}"/>
              </a:ext>
            </a:extLst>
          </p:cNvPr>
          <p:cNvSpPr/>
          <p:nvPr/>
        </p:nvSpPr>
        <p:spPr>
          <a:xfrm>
            <a:off x="777240" y="19933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C8936F5C-6052-32A2-8AA7-ADA68AFE8784}"/>
              </a:ext>
            </a:extLst>
          </p:cNvPr>
          <p:cNvSpPr/>
          <p:nvPr/>
        </p:nvSpPr>
        <p:spPr>
          <a:xfrm>
            <a:off x="1417320" y="1828800"/>
            <a:ext cx="2743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integrity</a:t>
            </a:r>
            <a:endParaRPr lang="en-US" sz="1400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3F7C69EB-524E-0192-6A19-6EA6B6BF016B}"/>
              </a:ext>
            </a:extLst>
          </p:cNvPr>
          <p:cNvSpPr/>
          <p:nvPr/>
        </p:nvSpPr>
        <p:spPr>
          <a:xfrm>
            <a:off x="4297680" y="1828800"/>
            <a:ext cx="7040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isnull().sum() and duplicated().sum() confirmed zero missing values and zero duplicate rows in TSLA.csv.</a:t>
            </a:r>
            <a:endParaRPr lang="en-US" sz="1200" dirty="0"/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8F357E0A-A96E-9E41-1790-5259A0E088AA}"/>
              </a:ext>
            </a:extLst>
          </p:cNvPr>
          <p:cNvSpPr/>
          <p:nvPr/>
        </p:nvSpPr>
        <p:spPr>
          <a:xfrm>
            <a:off x="548640" y="283464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E"/>
            </a:solidFill>
            <a:prstDash val="solid"/>
          </a:ln>
        </p:spPr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72F01C95-BC44-8842-C02B-14D7501852EC}"/>
              </a:ext>
            </a:extLst>
          </p:cNvPr>
          <p:cNvSpPr/>
          <p:nvPr/>
        </p:nvSpPr>
        <p:spPr>
          <a:xfrm>
            <a:off x="777240" y="3090672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01F70843-5F52-512C-1DCE-9C726AB60AAB}"/>
              </a:ext>
            </a:extLst>
          </p:cNvPr>
          <p:cNvSpPr/>
          <p:nvPr/>
        </p:nvSpPr>
        <p:spPr>
          <a:xfrm>
            <a:off x="777240" y="3090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338A8BED-2A6D-DA19-D14F-6FE085251C09}"/>
              </a:ext>
            </a:extLst>
          </p:cNvPr>
          <p:cNvSpPr/>
          <p:nvPr/>
        </p:nvSpPr>
        <p:spPr>
          <a:xfrm>
            <a:off x="1417320" y="2926080"/>
            <a:ext cx="2743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missing-value strategy</a:t>
            </a:r>
            <a:endParaRPr lang="en-US" sz="1400" dirty="0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9E338E56-5B5C-1282-1C1D-EA50CD7F23C9}"/>
              </a:ext>
            </a:extLst>
          </p:cNvPr>
          <p:cNvSpPr/>
          <p:nvPr/>
        </p:nvSpPr>
        <p:spPr>
          <a:xfrm>
            <a:off x="4297680" y="2926080"/>
            <a:ext cx="7040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copy, injected artificial NaNs and resolved them with forward-fill + linear interpolation — the right approach for sequential price data.</a:t>
            </a:r>
            <a:endParaRPr lang="en-US" sz="1200" dirty="0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2D93E5F5-61E0-C418-CF7D-97430CCB2B89}"/>
              </a:ext>
            </a:extLst>
          </p:cNvPr>
          <p:cNvSpPr/>
          <p:nvPr/>
        </p:nvSpPr>
        <p:spPr>
          <a:xfrm>
            <a:off x="548640" y="393192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F4F8FA"/>
          </a:solidFill>
          <a:ln w="12700">
            <a:solidFill>
              <a:srgbClr val="E3EAEE"/>
            </a:solidFill>
            <a:prstDash val="solid"/>
          </a:ln>
        </p:spPr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716D0525-2149-D590-09C4-521F73437F7B}"/>
              </a:ext>
            </a:extLst>
          </p:cNvPr>
          <p:cNvSpPr/>
          <p:nvPr/>
        </p:nvSpPr>
        <p:spPr>
          <a:xfrm>
            <a:off x="777240" y="4187952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F399F407-D68C-F46A-A31E-C250E8021BCB}"/>
              </a:ext>
            </a:extLst>
          </p:cNvPr>
          <p:cNvSpPr/>
          <p:nvPr/>
        </p:nvSpPr>
        <p:spPr>
          <a:xfrm>
            <a:off x="777240" y="41879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B7AE7F3E-046B-10D8-7490-6354E5DA72E1}"/>
              </a:ext>
            </a:extLst>
          </p:cNvPr>
          <p:cNvSpPr/>
          <p:nvPr/>
        </p:nvSpPr>
        <p:spPr>
          <a:xfrm>
            <a:off x="1417320" y="4023360"/>
            <a:ext cx="2743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Datetime indexing</a:t>
            </a:r>
            <a:endParaRPr lang="en-US" sz="1400" dirty="0"/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0C08F444-02DC-C330-6EBB-FDDAD38F588D}"/>
              </a:ext>
            </a:extLst>
          </p:cNvPr>
          <p:cNvSpPr/>
          <p:nvPr/>
        </p:nvSpPr>
        <p:spPr>
          <a:xfrm>
            <a:off x="4297680" y="4023360"/>
            <a:ext cx="7040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Converted Date to datetime, sorted chronologically, and set it as the DataFrame index.</a:t>
            </a:r>
            <a:endParaRPr lang="en-US" sz="1200" dirty="0"/>
          </a:p>
        </p:txBody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41695563-1C94-DD0F-C87C-E164260C949B}"/>
              </a:ext>
            </a:extLst>
          </p:cNvPr>
          <p:cNvSpPr/>
          <p:nvPr/>
        </p:nvSpPr>
        <p:spPr>
          <a:xfrm>
            <a:off x="548640" y="502920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3EAEE"/>
            </a:solidFill>
            <a:prstDash val="solid"/>
          </a:ln>
        </p:spPr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949633CA-BED1-87DD-6EDC-2B20B092F1B9}"/>
              </a:ext>
            </a:extLst>
          </p:cNvPr>
          <p:cNvSpPr/>
          <p:nvPr/>
        </p:nvSpPr>
        <p:spPr>
          <a:xfrm>
            <a:off x="777240" y="5285232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34A47EDE-3342-6797-3B32-7CCB2D314BFF}"/>
              </a:ext>
            </a:extLst>
          </p:cNvPr>
          <p:cNvSpPr/>
          <p:nvPr/>
        </p:nvSpPr>
        <p:spPr>
          <a:xfrm>
            <a:off x="777240" y="52852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86DCF1B9-99A3-02CE-5C12-9790A2F05DF4}"/>
              </a:ext>
            </a:extLst>
          </p:cNvPr>
          <p:cNvSpPr/>
          <p:nvPr/>
        </p:nvSpPr>
        <p:spPr>
          <a:xfrm>
            <a:off x="1417320" y="5120640"/>
            <a:ext cx="2743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selection</a:t>
            </a:r>
            <a:endParaRPr lang="en-US" sz="1400" dirty="0"/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FCE1FE8A-5888-B106-18C7-4701708DF3CD}"/>
              </a:ext>
            </a:extLst>
          </p:cNvPr>
          <p:cNvSpPr/>
          <p:nvPr/>
        </p:nvSpPr>
        <p:spPr>
          <a:xfrm>
            <a:off x="4297680" y="5120640"/>
            <a:ext cx="7040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 Close chosen as the prediction target followed by project specifications.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65558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4F6833-A822-97D3-D5A1-3E18231B9D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5406"/>
          </a:xfrm>
        </p:spPr>
        <p:txBody>
          <a:bodyPr>
            <a:normAutofit/>
          </a:bodyPr>
          <a:lstStyle/>
          <a:p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UNIVARIATE ANALYSIS – FEATURE DISTRIBUTION </a:t>
            </a:r>
            <a:endParaRPr lang="en-IN" sz="32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46AE4B6-2A09-30B6-5B05-2330FD4A240A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030" y="1274677"/>
            <a:ext cx="6168715" cy="4100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1FF3FF5-C541-5FA4-FAAD-73FAD177E429}"/>
              </a:ext>
            </a:extLst>
          </p:cNvPr>
          <p:cNvSpPr txBox="1"/>
          <p:nvPr/>
        </p:nvSpPr>
        <p:spPr>
          <a:xfrm>
            <a:off x="573579" y="5583323"/>
            <a:ext cx="718427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600" i="1" dirty="0">
                <a:solidFill>
                  <a:schemeClr val="accent1"/>
                </a:solidFill>
              </a:rPr>
              <a:t>Histograms showing the distribution of Open, High, Low, Close, Adj Close, and Volume features.</a:t>
            </a:r>
            <a:endParaRPr kumimoji="0" lang="en-US" altLang="en-US" sz="1600" b="0" i="1" u="none" strike="noStrike" cap="none" normalizeH="0" baseline="0" dirty="0">
              <a:ln>
                <a:noFill/>
              </a:ln>
              <a:solidFill>
                <a:schemeClr val="accent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7B14F2-FE0A-E669-D50F-CEDA1513A13D}"/>
              </a:ext>
            </a:extLst>
          </p:cNvPr>
          <p:cNvSpPr txBox="1"/>
          <p:nvPr/>
        </p:nvSpPr>
        <p:spPr>
          <a:xfrm>
            <a:off x="7292186" y="2107502"/>
            <a:ext cx="477512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OBSERVATIONS</a:t>
            </a:r>
          </a:p>
          <a:p>
            <a:pPr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5B2EE5DA-4F2A-0E82-682C-EAEF9E9BB0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20830" y="2564982"/>
            <a:ext cx="4730782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Price features show similar distributions.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Most prices are concentrated in lower ranges.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Volume is strongly right-skewed.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Long tails indicate high-value observations. </a:t>
            </a:r>
          </a:p>
        </p:txBody>
      </p:sp>
    </p:spTree>
    <p:extLst>
      <p:ext uri="{BB962C8B-B14F-4D97-AF65-F5344CB8AC3E}">
        <p14:creationId xmlns:p14="http://schemas.microsoft.com/office/powerpoint/2010/main" val="21673449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24A561-CC7C-D904-1BA9-B728C94A6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06722"/>
          </a:xfrm>
        </p:spPr>
        <p:txBody>
          <a:bodyPr>
            <a:noAutofit/>
          </a:bodyPr>
          <a:lstStyle/>
          <a:p>
            <a:r>
              <a:rPr lang="en-IN" sz="28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BIVARIATE ANALYSIS- PRICE TREND &amp; TRADING VOLUME</a:t>
            </a:r>
            <a:endParaRPr lang="en-IN" sz="2800" dirty="0"/>
          </a:p>
        </p:txBody>
      </p:sp>
      <p:pic>
        <p:nvPicPr>
          <p:cNvPr id="16" name="Image 0" descr="cell15_img1.png">
            <a:extLst>
              <a:ext uri="{FF2B5EF4-FFF2-40B4-BE49-F238E27FC236}">
                <a16:creationId xmlns:a16="http://schemas.microsoft.com/office/drawing/2014/main" id="{743772DF-F9AC-E100-3F41-7622E06825F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48640" y="1425556"/>
            <a:ext cx="5160819" cy="2360968"/>
          </a:xfrm>
          <a:prstGeom prst="rect">
            <a:avLst/>
          </a:prstGeom>
        </p:spPr>
      </p:pic>
      <p:pic>
        <p:nvPicPr>
          <p:cNvPr id="17" name="Image 1" descr="cell16_img2.png">
            <a:extLst>
              <a:ext uri="{FF2B5EF4-FFF2-40B4-BE49-F238E27FC236}">
                <a16:creationId xmlns:a16="http://schemas.microsoft.com/office/drawing/2014/main" id="{9F2C9B81-42A3-D5EA-5F42-C4777DFA24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110644"/>
            <a:ext cx="5160819" cy="2360968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FE833F80-2F93-9C0B-3AB4-8FD91DD78785}"/>
              </a:ext>
            </a:extLst>
          </p:cNvPr>
          <p:cNvSpPr txBox="1"/>
          <p:nvPr/>
        </p:nvSpPr>
        <p:spPr>
          <a:xfrm>
            <a:off x="6991849" y="3105910"/>
            <a:ext cx="16864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Observations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CFA33E3A-3E99-22DC-1CA5-33BAF12D24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91849" y="3105910"/>
            <a:ext cx="4450257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Strong long-term price growth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Higher volume spikes during major movements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Increased volatility in later years </a:t>
            </a:r>
          </a:p>
        </p:txBody>
      </p:sp>
    </p:spTree>
    <p:extLst>
      <p:ext uri="{BB962C8B-B14F-4D97-AF65-F5344CB8AC3E}">
        <p14:creationId xmlns:p14="http://schemas.microsoft.com/office/powerpoint/2010/main" val="36563071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E10931-CB22-295A-ED30-04134CEFD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28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MULTIVARIATE ANALYSIS – CORRELATION HEAT MAP</a:t>
            </a:r>
            <a:endParaRPr lang="en-IN" sz="2800" dirty="0"/>
          </a:p>
        </p:txBody>
      </p:sp>
      <p:pic>
        <p:nvPicPr>
          <p:cNvPr id="4" name="Image 2" descr="cell20_img6.png">
            <a:extLst>
              <a:ext uri="{FF2B5EF4-FFF2-40B4-BE49-F238E27FC236}">
                <a16:creationId xmlns:a16="http://schemas.microsoft.com/office/drawing/2014/main" id="{A24BCEC5-EB2C-5EDE-D5AC-8A5F6A2B079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9467" y="2059830"/>
            <a:ext cx="5119712" cy="3569336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A0CE18BF-802D-1752-0527-67A0C7F96F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40399" y="3275967"/>
            <a:ext cx="5987280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Open, High, Low, Close &amp; Adj Close: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very strong correlation (~1.0)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Volume: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moderate correlation with price features (~0.49–0.51)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Price variables: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highly interrelated </a:t>
            </a:r>
          </a:p>
        </p:txBody>
      </p:sp>
    </p:spTree>
    <p:extLst>
      <p:ext uri="{BB962C8B-B14F-4D97-AF65-F5344CB8AC3E}">
        <p14:creationId xmlns:p14="http://schemas.microsoft.com/office/powerpoint/2010/main" val="6002979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1">
            <a:extLst>
              <a:ext uri="{FF2B5EF4-FFF2-40B4-BE49-F238E27FC236}">
                <a16:creationId xmlns:a16="http://schemas.microsoft.com/office/drawing/2014/main" id="{F256CF97-FD86-D326-23A3-C8C52644D03C}"/>
              </a:ext>
            </a:extLst>
          </p:cNvPr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</a:rPr>
              <a:t>OUTLIER ANALYSIS</a:t>
            </a:r>
            <a:endParaRPr lang="en-US" sz="3000" dirty="0"/>
          </a:p>
        </p:txBody>
      </p:sp>
      <p:pic>
        <p:nvPicPr>
          <p:cNvPr id="6" name="Image 0" descr="/home/claude/nb_images/07_boxplot.png">
            <a:extLst>
              <a:ext uri="{FF2B5EF4-FFF2-40B4-BE49-F238E27FC236}">
                <a16:creationId xmlns:a16="http://schemas.microsoft.com/office/drawing/2014/main" id="{172C5B62-9EDA-33E3-03B3-57CF50AA26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10174"/>
            <a:ext cx="5200227" cy="4544568"/>
          </a:xfrm>
          <a:prstGeom prst="rect">
            <a:avLst/>
          </a:prstGeom>
        </p:spPr>
      </p:pic>
      <p:sp>
        <p:nvSpPr>
          <p:cNvPr id="9" name="Rectangle 1">
            <a:extLst>
              <a:ext uri="{FF2B5EF4-FFF2-40B4-BE49-F238E27FC236}">
                <a16:creationId xmlns:a16="http://schemas.microsoft.com/office/drawing/2014/main" id="{BB506457-8205-C084-3771-DD42B4AFF0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64182" y="3429000"/>
            <a:ext cx="5391219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Outliers are present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across price features.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High and Adj Close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show notable extreme values.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Outliers represent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unusually high historical prices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235419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1">
            <a:extLst>
              <a:ext uri="{FF2B5EF4-FFF2-40B4-BE49-F238E27FC236}">
                <a16:creationId xmlns:a16="http://schemas.microsoft.com/office/drawing/2014/main" id="{91562F1E-F31E-7B55-A421-28BC8B2EA102}"/>
              </a:ext>
            </a:extLst>
          </p:cNvPr>
          <p:cNvSpPr/>
          <p:nvPr/>
        </p:nvSpPr>
        <p:spPr>
          <a:xfrm>
            <a:off x="548640" y="685800"/>
            <a:ext cx="1192876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200" b="1" kern="0" spc="200" dirty="0">
                <a:solidFill>
                  <a:schemeClr val="accent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PREPARATION</a:t>
            </a:r>
            <a:r>
              <a:rPr lang="en-US" sz="3200" kern="0" spc="200" dirty="0">
                <a:solidFill>
                  <a:schemeClr val="accent1">
                    <a:lumMod val="50000"/>
                  </a:schemeClr>
                </a:solidFill>
              </a:rPr>
              <a:t> </a:t>
            </a:r>
            <a:r>
              <a:rPr lang="en-US" sz="3200" kern="0" spc="200" dirty="0"/>
              <a:t>– </a:t>
            </a:r>
            <a:r>
              <a:rPr lang="en-US" sz="3000" b="1" kern="0" spc="200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</a:rPr>
              <a:t>SCALING </a:t>
            </a: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SEQUENCE CREATION</a:t>
            </a:r>
            <a:endParaRPr lang="en-US" sz="3000" dirty="0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859EBA56-F3BB-B4F3-BE90-973CBB5E55A5}"/>
              </a:ext>
            </a:extLst>
          </p:cNvPr>
          <p:cNvSpPr/>
          <p:nvPr/>
        </p:nvSpPr>
        <p:spPr>
          <a:xfrm>
            <a:off x="548640" y="182880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065A82"/>
          </a:solidFill>
          <a:ln/>
        </p:spPr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9FE18741-1810-7EC2-16B4-F55E32A6F183}"/>
              </a:ext>
            </a:extLst>
          </p:cNvPr>
          <p:cNvSpPr/>
          <p:nvPr/>
        </p:nvSpPr>
        <p:spPr>
          <a:xfrm>
            <a:off x="731520" y="210312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 / 20 Split</a:t>
            </a:r>
            <a:endParaRPr lang="en-US" sz="1700" dirty="0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D83A6784-0BAC-3AD7-0DAF-E9A5EDB0A1A2}"/>
              </a:ext>
            </a:extLst>
          </p:cNvPr>
          <p:cNvSpPr/>
          <p:nvPr/>
        </p:nvSpPr>
        <p:spPr>
          <a:xfrm>
            <a:off x="731520" y="2971800"/>
            <a:ext cx="22402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AF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Chronological train/test split — no shuffling, since future data must never leak into training.</a:t>
            </a:r>
            <a:endParaRPr lang="en-US" sz="1150" dirty="0"/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034D35EF-25E8-8241-9422-3404C3FD30DC}"/>
              </a:ext>
            </a:extLst>
          </p:cNvPr>
          <p:cNvSpPr/>
          <p:nvPr/>
        </p:nvSpPr>
        <p:spPr>
          <a:xfrm>
            <a:off x="3383280" y="182880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1C7293"/>
          </a:solidFill>
          <a:ln/>
        </p:spPr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2E9FD5B4-68E0-8025-C261-DA877E83FCF6}"/>
              </a:ext>
            </a:extLst>
          </p:cNvPr>
          <p:cNvSpPr/>
          <p:nvPr/>
        </p:nvSpPr>
        <p:spPr>
          <a:xfrm>
            <a:off x="3566160" y="210312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MinMaxScaler</a:t>
            </a:r>
            <a:endParaRPr lang="en-US" sz="1700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8D908280-ED8C-4CC7-8780-8BBCE4EE74CB}"/>
              </a:ext>
            </a:extLst>
          </p:cNvPr>
          <p:cNvSpPr/>
          <p:nvPr/>
        </p:nvSpPr>
        <p:spPr>
          <a:xfrm>
            <a:off x="3566160" y="2971800"/>
            <a:ext cx="22402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AF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strictly on the training set, then applied to both train and test — prevents data leakage.</a:t>
            </a:r>
            <a:endParaRPr lang="en-US" sz="1150" dirty="0"/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A2E6EFBB-9CF5-9E8B-3599-F25D1927915D}"/>
              </a:ext>
            </a:extLst>
          </p:cNvPr>
          <p:cNvSpPr/>
          <p:nvPr/>
        </p:nvSpPr>
        <p:spPr>
          <a:xfrm>
            <a:off x="6217920" y="182880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065A82"/>
          </a:solidFill>
          <a:ln/>
        </p:spPr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B7DA735A-42F5-4E6F-EEDE-7B81304571A4}"/>
              </a:ext>
            </a:extLst>
          </p:cNvPr>
          <p:cNvSpPr/>
          <p:nvPr/>
        </p:nvSpPr>
        <p:spPr>
          <a:xfrm>
            <a:off x="6400800" y="210312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60-Day Window</a:t>
            </a:r>
            <a:endParaRPr lang="en-US" sz="1700" dirty="0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C6E904BE-413B-D732-2F1D-6835D54CEC97}"/>
              </a:ext>
            </a:extLst>
          </p:cNvPr>
          <p:cNvSpPr/>
          <p:nvPr/>
        </p:nvSpPr>
        <p:spPr>
          <a:xfrm>
            <a:off x="6400800" y="2971800"/>
            <a:ext cx="22402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AF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input sequence uses the past 60 days of scaled price to predict the target day.</a:t>
            </a:r>
            <a:endParaRPr lang="en-US" sz="1150" dirty="0"/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8ECD73CD-413F-7E06-951C-26C1A9C65B32}"/>
              </a:ext>
            </a:extLst>
          </p:cNvPr>
          <p:cNvSpPr/>
          <p:nvPr/>
        </p:nvSpPr>
        <p:spPr>
          <a:xfrm>
            <a:off x="9052560" y="1828800"/>
            <a:ext cx="2606040" cy="3291840"/>
          </a:xfrm>
          <a:prstGeom prst="roundRect">
            <a:avLst>
              <a:gd name="adj" fmla="val 3509"/>
            </a:avLst>
          </a:prstGeom>
          <a:solidFill>
            <a:srgbClr val="1C7293"/>
          </a:solidFill>
          <a:ln/>
        </p:spPr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DD18C5E4-E53F-747B-9233-51C1FD70C3AD}"/>
              </a:ext>
            </a:extLst>
          </p:cNvPr>
          <p:cNvSpPr/>
          <p:nvPr/>
        </p:nvSpPr>
        <p:spPr>
          <a:xfrm>
            <a:off x="9235440" y="2103120"/>
            <a:ext cx="2240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Horizons</a:t>
            </a:r>
            <a:endParaRPr lang="en-US" sz="1700" dirty="0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1CA15498-AA6D-1AD3-84AA-8FD90F1F8F57}"/>
              </a:ext>
            </a:extLst>
          </p:cNvPr>
          <p:cNvSpPr/>
          <p:nvPr/>
        </p:nvSpPr>
        <p:spPr>
          <a:xfrm>
            <a:off x="9235440" y="2971800"/>
            <a:ext cx="22402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AF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X/y sequence sets built for 1-day, 5-day, and 10-day ahead targets.</a:t>
            </a:r>
            <a:endParaRPr lang="en-US" sz="1150" dirty="0"/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C48ACAFB-B5FE-85D2-02EC-5537FE007592}"/>
              </a:ext>
            </a:extLst>
          </p:cNvPr>
          <p:cNvSpPr/>
          <p:nvPr/>
        </p:nvSpPr>
        <p:spPr>
          <a:xfrm>
            <a:off x="548640" y="53492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size: 1,872 sequences   |   Test size: 484 (1-day) / 480 (5-day) / 475 (10-day)</a:t>
            </a:r>
            <a:endParaRPr lang="en-US" sz="125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7323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5C5CE-261D-FE75-1D22-7273E7B9C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23842"/>
          </a:xfrm>
        </p:spPr>
        <p:txBody>
          <a:bodyPr>
            <a:normAutofit/>
          </a:bodyPr>
          <a:lstStyle/>
          <a:p>
            <a:pPr algn="ctr"/>
            <a:r>
              <a:rPr lang="en-IN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SimpleRNN vs LSTM Architecture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21CC036-7156-6837-6807-BB4B639F91F6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929640" y="1371600"/>
          <a:ext cx="10515600" cy="411480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981430567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8508509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/>
                        <a:t>SimpleRNN</a:t>
                      </a:r>
                      <a:endParaRPr lang="en-US" sz="1800" dirty="0"/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/>
                        <a:t>LSTM</a:t>
                      </a:r>
                      <a:endParaRPr lang="en-US" sz="1800" dirty="0"/>
                    </a:p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87123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SimpleRNN(64)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return_sequences=True</a:t>
                      </a:r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LSTM(64)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return_sequences=True</a:t>
                      </a:r>
                    </a:p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9170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Dropout(0.2)</a:t>
                      </a:r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Dropout(0.2)</a:t>
                      </a:r>
                    </a:p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67708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SimpleRNN(32)</a:t>
                      </a:r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LSTM(32)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63657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Dropout(0.2)</a:t>
                      </a:r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Dropout(0.2)</a:t>
                      </a:r>
                    </a:p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59887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Dense(1)</a:t>
                      </a:r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Dense(1)</a:t>
                      </a:r>
                    </a:p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8962640"/>
                  </a:ext>
                </a:extLst>
              </a:tr>
            </a:tbl>
          </a:graphicData>
        </a:graphic>
      </p:graphicFrame>
      <p:sp>
        <p:nvSpPr>
          <p:cNvPr id="3" name="Text 26">
            <a:extLst>
              <a:ext uri="{FF2B5EF4-FFF2-40B4-BE49-F238E27FC236}">
                <a16:creationId xmlns:a16="http://schemas.microsoft.com/office/drawing/2014/main" id="{2950B716-3D98-0E9B-730F-E42480EF15A0}"/>
              </a:ext>
            </a:extLst>
          </p:cNvPr>
          <p:cNvSpPr/>
          <p:nvPr/>
        </p:nvSpPr>
        <p:spPr>
          <a:xfrm>
            <a:off x="763386" y="5769032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chemeClr val="accent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Both compiled with Adam optimizer + Mean Squared Error loss  ·  trained with EarlyStopping &amp; ModelCheckpoint</a:t>
            </a:r>
            <a:endParaRPr lang="en-US" sz="1400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52385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BDD838-D67E-8BD9-F3E1-176542C9D7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7740" y="681037"/>
            <a:ext cx="10386060" cy="842963"/>
          </a:xfrm>
        </p:spPr>
        <p:txBody>
          <a:bodyPr>
            <a:normAutofit/>
          </a:bodyPr>
          <a:lstStyle/>
          <a:p>
            <a:pPr algn="ctr"/>
            <a:r>
              <a:rPr lang="en-IN" sz="3200" b="1" dirty="0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TRAINING CURVES - </a:t>
            </a: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3 HORIZONS</a:t>
            </a:r>
            <a:endParaRPr lang="en-IN" sz="3200" b="1" dirty="0"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Image 0" descr="cell36_img8.png">
            <a:extLst>
              <a:ext uri="{FF2B5EF4-FFF2-40B4-BE49-F238E27FC236}">
                <a16:creationId xmlns:a16="http://schemas.microsoft.com/office/drawing/2014/main" id="{B00D5041-399A-8583-632D-1633030B87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012777"/>
            <a:ext cx="10515600" cy="2291108"/>
          </a:xfrm>
          <a:prstGeom prst="rect">
            <a:avLst/>
          </a:prstGeom>
        </p:spPr>
      </p:pic>
      <p:sp>
        <p:nvSpPr>
          <p:cNvPr id="3" name="Text 2">
            <a:extLst>
              <a:ext uri="{FF2B5EF4-FFF2-40B4-BE49-F238E27FC236}">
                <a16:creationId xmlns:a16="http://schemas.microsoft.com/office/drawing/2014/main" id="{A97FFAD6-F86F-CF06-3983-A15292496441}"/>
              </a:ext>
            </a:extLst>
          </p:cNvPr>
          <p:cNvSpPr/>
          <p:nvPr/>
        </p:nvSpPr>
        <p:spPr>
          <a:xfrm>
            <a:off x="548640" y="45262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chemeClr val="accent1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stopping halted training once validation loss stopped improving — 6 models trained in total (2 architectures × 3 horizons).</a:t>
            </a:r>
            <a:endParaRPr lang="en-US" sz="13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472664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1">
            <a:extLst>
              <a:ext uri="{FF2B5EF4-FFF2-40B4-BE49-F238E27FC236}">
                <a16:creationId xmlns:a16="http://schemas.microsoft.com/office/drawing/2014/main" id="{43CD80F8-C746-0736-AC80-59D25FEE399A}"/>
              </a:ext>
            </a:extLst>
          </p:cNvPr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TEST-SET PERFORMANCE (MSE / RMSE / MAE)</a:t>
            </a:r>
            <a:endParaRPr lang="en-US" sz="3000" dirty="0"/>
          </a:p>
        </p:txBody>
      </p:sp>
      <p:graphicFrame>
        <p:nvGraphicFramePr>
          <p:cNvPr id="6" name="Table 0">
            <a:extLst>
              <a:ext uri="{FF2B5EF4-FFF2-40B4-BE49-F238E27FC236}">
                <a16:creationId xmlns:a16="http://schemas.microsoft.com/office/drawing/2014/main" id="{362C26CF-A5A0-3566-444E-DFE7EAB6E823}"/>
              </a:ext>
            </a:extLst>
          </p:cNvPr>
          <p:cNvGraphicFramePr>
            <a:graphicFrameLocks noGrp="1"/>
          </p:cNvGraphicFramePr>
          <p:nvPr/>
        </p:nvGraphicFramePr>
        <p:xfrm>
          <a:off x="914400" y="1920240"/>
          <a:ext cx="10241280" cy="3566157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945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Model</a:t>
                      </a:r>
                      <a:endParaRPr lang="en-US" sz="13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Horizon</a:t>
                      </a:r>
                      <a:endParaRPr lang="en-US" sz="13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MSE</a:t>
                      </a:r>
                      <a:endParaRPr lang="en-US" sz="13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RMSE</a:t>
                      </a:r>
                      <a:endParaRPr lang="en-US" sz="13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MAE</a:t>
                      </a:r>
                      <a:endParaRPr lang="en-US" sz="13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</a:rPr>
                        <a:t>SimpleRNN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</a:rPr>
                        <a:t>1-day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</a:rPr>
                        <a:t>733.53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</a:rPr>
                        <a:t>27.08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</a:rPr>
                        <a:t>14.59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</a:rPr>
                        <a:t>LSTM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</a:rPr>
                        <a:t>1-day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</a:rPr>
                        <a:t>699.77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</a:rPr>
                        <a:t>26.45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</a:rPr>
                        <a:t>18.06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</a:rPr>
                        <a:t>SimpleRNN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</a:rPr>
                        <a:t>5-day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</a:rPr>
                        <a:t>1,654.21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</a:rPr>
                        <a:t>40.67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</a:rPr>
                        <a:t>26.01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</a:rPr>
                        <a:t>LSTM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</a:rPr>
                        <a:t>5-day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</a:rPr>
                        <a:t>1,787.55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</a:rPr>
                        <a:t>42.28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</a:rPr>
                        <a:t>29.00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</a:rPr>
                        <a:t>SimpleRNN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</a:rPr>
                        <a:t>10-day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</a:rPr>
                        <a:t>2,196.60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</a:rPr>
                        <a:t>46.87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</a:rPr>
                        <a:t>33.19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</a:rPr>
                        <a:t>LSTM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</a:rPr>
                        <a:t>10-day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</a:rPr>
                        <a:t>2,611.48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</a:rPr>
                        <a:t>51.10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333333"/>
                          </a:solidFill>
                        </a:rPr>
                        <a:t>33.70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 2">
            <a:extLst>
              <a:ext uri="{FF2B5EF4-FFF2-40B4-BE49-F238E27FC236}">
                <a16:creationId xmlns:a16="http://schemas.microsoft.com/office/drawing/2014/main" id="{667C4785-AF08-9A81-CA22-D7E395D49C26}"/>
              </a:ext>
            </a:extLst>
          </p:cNvPr>
          <p:cNvSpPr/>
          <p:nvPr/>
        </p:nvSpPr>
        <p:spPr>
          <a:xfrm>
            <a:off x="914400" y="571500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chemeClr val="accent1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RMSE = better. Result is mixed by horizon: LSTM wins at 1-day, SimpleRNN wins at 5-day and 10-day — see Slide 15.</a:t>
            </a:r>
            <a:endParaRPr lang="en-US" sz="125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A83C5DF0-5B75-E015-287C-C2CC7FCFD352}"/>
              </a:ext>
            </a:extLst>
          </p:cNvPr>
          <p:cNvSpPr/>
          <p:nvPr/>
        </p:nvSpPr>
        <p:spPr>
          <a:xfrm>
            <a:off x="1161288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6836588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2">
            <a:extLst>
              <a:ext uri="{FF2B5EF4-FFF2-40B4-BE49-F238E27FC236}">
                <a16:creationId xmlns:a16="http://schemas.microsoft.com/office/drawing/2014/main" id="{84AA7AC1-25A8-6D02-D29A-2A9BED909C62}"/>
              </a:ext>
            </a:extLst>
          </p:cNvPr>
          <p:cNvSpPr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EVALUATION — MSE / RMSE / MAE</a:t>
            </a:r>
            <a:endParaRPr lang="en-US" sz="3000" dirty="0"/>
          </a:p>
        </p:txBody>
      </p:sp>
      <p:sp>
        <p:nvSpPr>
          <p:cNvPr id="19" name="Rectangle 1">
            <a:extLst>
              <a:ext uri="{FF2B5EF4-FFF2-40B4-BE49-F238E27FC236}">
                <a16:creationId xmlns:a16="http://schemas.microsoft.com/office/drawing/2014/main" id="{58512643-8674-AD6F-7D78-A623D6C231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77231" y="2707180"/>
            <a:ext cx="5009682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OBSERVATION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1401392-3A53-B0A8-929B-6B8D9B7A3B1F}"/>
              </a:ext>
            </a:extLst>
          </p:cNvPr>
          <p:cNvGraphicFramePr>
            <a:graphicFrameLocks noGrp="1"/>
          </p:cNvGraphicFramePr>
          <p:nvPr/>
        </p:nvGraphicFramePr>
        <p:xfrm>
          <a:off x="306186" y="2303550"/>
          <a:ext cx="5789814" cy="283464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964969">
                  <a:extLst>
                    <a:ext uri="{9D8B030D-6E8A-4147-A177-3AD203B41FA5}">
                      <a16:colId xmlns:a16="http://schemas.microsoft.com/office/drawing/2014/main" val="1944095602"/>
                    </a:ext>
                  </a:extLst>
                </a:gridCol>
                <a:gridCol w="964969">
                  <a:extLst>
                    <a:ext uri="{9D8B030D-6E8A-4147-A177-3AD203B41FA5}">
                      <a16:colId xmlns:a16="http://schemas.microsoft.com/office/drawing/2014/main" val="802357274"/>
                    </a:ext>
                  </a:extLst>
                </a:gridCol>
                <a:gridCol w="964969">
                  <a:extLst>
                    <a:ext uri="{9D8B030D-6E8A-4147-A177-3AD203B41FA5}">
                      <a16:colId xmlns:a16="http://schemas.microsoft.com/office/drawing/2014/main" val="453159130"/>
                    </a:ext>
                  </a:extLst>
                </a:gridCol>
                <a:gridCol w="964969">
                  <a:extLst>
                    <a:ext uri="{9D8B030D-6E8A-4147-A177-3AD203B41FA5}">
                      <a16:colId xmlns:a16="http://schemas.microsoft.com/office/drawing/2014/main" val="273472440"/>
                    </a:ext>
                  </a:extLst>
                </a:gridCol>
                <a:gridCol w="964969">
                  <a:extLst>
                    <a:ext uri="{9D8B030D-6E8A-4147-A177-3AD203B41FA5}">
                      <a16:colId xmlns:a16="http://schemas.microsoft.com/office/drawing/2014/main" val="3124155317"/>
                    </a:ext>
                  </a:extLst>
                </a:gridCol>
                <a:gridCol w="964969">
                  <a:extLst>
                    <a:ext uri="{9D8B030D-6E8A-4147-A177-3AD203B41FA5}">
                      <a16:colId xmlns:a16="http://schemas.microsoft.com/office/drawing/2014/main" val="2571942046"/>
                    </a:ext>
                  </a:extLst>
                </a:gridCol>
              </a:tblGrid>
              <a:tr h="250255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200" b="1" dirty="0">
                          <a:effectLst/>
                        </a:rPr>
                        <a:t>Model</a:t>
                      </a:r>
                      <a:endParaRPr lang="en-IN" sz="1200" b="1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200" b="1">
                          <a:effectLst/>
                        </a:rPr>
                        <a:t>Horizon (days)</a:t>
                      </a:r>
                      <a:endParaRPr lang="en-IN" sz="1200" b="1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200" b="1">
                          <a:effectLst/>
                        </a:rPr>
                        <a:t>MSE</a:t>
                      </a:r>
                      <a:endParaRPr lang="en-IN" sz="1200" b="1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200" b="1">
                          <a:effectLst/>
                        </a:rPr>
                        <a:t>RMSE</a:t>
                      </a:r>
                      <a:endParaRPr lang="en-IN" sz="1200" b="1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200" b="1">
                          <a:effectLst/>
                        </a:rPr>
                        <a:t>MAE</a:t>
                      </a:r>
                      <a:endParaRPr lang="en-IN" sz="1200" b="1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IN"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31804"/>
                  </a:ext>
                </a:extLst>
              </a:tr>
              <a:tr h="250255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200" b="1">
                          <a:effectLst/>
                        </a:rPr>
                        <a:t>0</a:t>
                      </a:r>
                      <a:endParaRPr lang="en-IN" sz="1200" b="1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200">
                          <a:effectLst/>
                        </a:rPr>
                        <a:t>LSTM</a:t>
                      </a:r>
                      <a:endParaRPr lang="en-IN" sz="12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200">
                          <a:effectLst/>
                        </a:rPr>
                        <a:t>1</a:t>
                      </a:r>
                      <a:endParaRPr lang="en-IN" sz="12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200">
                          <a:effectLst/>
                        </a:rPr>
                        <a:t>699.768235</a:t>
                      </a:r>
                      <a:endParaRPr lang="en-IN" sz="12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200">
                          <a:effectLst/>
                        </a:rPr>
                        <a:t>26.453133</a:t>
                      </a:r>
                      <a:endParaRPr lang="en-IN" sz="12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200">
                          <a:effectLst/>
                        </a:rPr>
                        <a:t>18.057598</a:t>
                      </a:r>
                      <a:endParaRPr lang="en-IN" sz="12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9622046"/>
                  </a:ext>
                </a:extLst>
              </a:tr>
              <a:tr h="250255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200" b="1">
                          <a:effectLst/>
                        </a:rPr>
                        <a:t>1</a:t>
                      </a:r>
                      <a:endParaRPr lang="en-IN" sz="1200" b="1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200">
                          <a:effectLst/>
                        </a:rPr>
                        <a:t>SimpleRNN</a:t>
                      </a:r>
                      <a:endParaRPr lang="en-IN" sz="12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200">
                          <a:effectLst/>
                        </a:rPr>
                        <a:t>1</a:t>
                      </a:r>
                      <a:endParaRPr lang="en-IN" sz="12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200">
                          <a:effectLst/>
                        </a:rPr>
                        <a:t>733.527663</a:t>
                      </a:r>
                      <a:endParaRPr lang="en-IN" sz="12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200">
                          <a:effectLst/>
                        </a:rPr>
                        <a:t>27.083716</a:t>
                      </a:r>
                      <a:endParaRPr lang="en-IN" sz="12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200">
                          <a:effectLst/>
                        </a:rPr>
                        <a:t>14.586979</a:t>
                      </a:r>
                      <a:endParaRPr lang="en-IN" sz="12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2707071"/>
                  </a:ext>
                </a:extLst>
              </a:tr>
              <a:tr h="250255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200" b="1">
                          <a:effectLst/>
                        </a:rPr>
                        <a:t>2</a:t>
                      </a:r>
                      <a:endParaRPr lang="en-IN" sz="1200" b="1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200">
                          <a:effectLst/>
                        </a:rPr>
                        <a:t>LSTM</a:t>
                      </a:r>
                      <a:endParaRPr lang="en-IN" sz="12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200">
                          <a:effectLst/>
                        </a:rPr>
                        <a:t>5</a:t>
                      </a:r>
                      <a:endParaRPr lang="en-IN" sz="12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200">
                          <a:effectLst/>
                        </a:rPr>
                        <a:t>1787.551161</a:t>
                      </a:r>
                      <a:endParaRPr lang="en-IN" sz="12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200">
                          <a:effectLst/>
                        </a:rPr>
                        <a:t>42.279441</a:t>
                      </a:r>
                      <a:endParaRPr lang="en-IN" sz="12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200">
                          <a:effectLst/>
                        </a:rPr>
                        <a:t>29.000186</a:t>
                      </a:r>
                      <a:endParaRPr lang="en-IN" sz="12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32739749"/>
                  </a:ext>
                </a:extLst>
              </a:tr>
              <a:tr h="250255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200" b="1">
                          <a:effectLst/>
                        </a:rPr>
                        <a:t>3</a:t>
                      </a:r>
                      <a:endParaRPr lang="en-IN" sz="1200" b="1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200">
                          <a:effectLst/>
                        </a:rPr>
                        <a:t>SimpleRNN</a:t>
                      </a:r>
                      <a:endParaRPr lang="en-IN" sz="12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200">
                          <a:effectLst/>
                        </a:rPr>
                        <a:t>5</a:t>
                      </a:r>
                      <a:endParaRPr lang="en-IN" sz="12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200">
                          <a:effectLst/>
                        </a:rPr>
                        <a:t>1654.211900</a:t>
                      </a:r>
                      <a:endParaRPr lang="en-IN" sz="12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200">
                          <a:effectLst/>
                        </a:rPr>
                        <a:t>40.672004</a:t>
                      </a:r>
                      <a:endParaRPr lang="en-IN" sz="12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200">
                          <a:effectLst/>
                        </a:rPr>
                        <a:t>26.012925</a:t>
                      </a:r>
                      <a:endParaRPr lang="en-IN" sz="12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23100027"/>
                  </a:ext>
                </a:extLst>
              </a:tr>
              <a:tr h="250255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200" b="1">
                          <a:effectLst/>
                        </a:rPr>
                        <a:t>4</a:t>
                      </a:r>
                      <a:endParaRPr lang="en-IN" sz="1200" b="1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200">
                          <a:effectLst/>
                        </a:rPr>
                        <a:t>LSTM</a:t>
                      </a:r>
                      <a:endParaRPr lang="en-IN" sz="12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200">
                          <a:effectLst/>
                        </a:rPr>
                        <a:t>10</a:t>
                      </a:r>
                      <a:endParaRPr lang="en-IN" sz="12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200">
                          <a:effectLst/>
                        </a:rPr>
                        <a:t>2611.477419</a:t>
                      </a:r>
                      <a:endParaRPr lang="en-IN" sz="12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200">
                          <a:effectLst/>
                        </a:rPr>
                        <a:t>51.102617</a:t>
                      </a:r>
                      <a:endParaRPr lang="en-IN" sz="12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200">
                          <a:effectLst/>
                        </a:rPr>
                        <a:t>33.703618</a:t>
                      </a:r>
                      <a:endParaRPr lang="en-IN" sz="12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82667615"/>
                  </a:ext>
                </a:extLst>
              </a:tr>
              <a:tr h="250255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200" b="1">
                          <a:effectLst/>
                        </a:rPr>
                        <a:t>5</a:t>
                      </a:r>
                      <a:endParaRPr lang="en-IN" sz="1200" b="1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200">
                          <a:effectLst/>
                        </a:rPr>
                        <a:t>SimpleRNN</a:t>
                      </a:r>
                      <a:endParaRPr lang="en-IN" sz="12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200">
                          <a:effectLst/>
                        </a:rPr>
                        <a:t>10</a:t>
                      </a:r>
                      <a:endParaRPr lang="en-IN" sz="12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200">
                          <a:effectLst/>
                        </a:rPr>
                        <a:t>2196.599926</a:t>
                      </a:r>
                      <a:endParaRPr lang="en-IN" sz="12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200">
                          <a:effectLst/>
                        </a:rPr>
                        <a:t>46.867899</a:t>
                      </a:r>
                      <a:endParaRPr lang="en-IN" sz="120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200" dirty="0">
                          <a:effectLst/>
                        </a:rPr>
                        <a:t>33.194465</a:t>
                      </a:r>
                      <a:endParaRPr lang="en-IN" sz="120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80058498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3E174085-A79B-01E7-97D9-BF8587BBE258}"/>
              </a:ext>
            </a:extLst>
          </p:cNvPr>
          <p:cNvSpPr txBox="1"/>
          <p:nvPr/>
        </p:nvSpPr>
        <p:spPr>
          <a:xfrm>
            <a:off x="6212378" y="3166872"/>
            <a:ext cx="511602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1-Day: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LSTM performs better with lower RMSE (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26.45 vs 27.08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5-Day: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SimpleRNN performs better (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40.67 vs 42.28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10-Day: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SimpleRNN performs better (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46.87 vs 51.10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C67E4F4-7845-4D23-91CA-B06FB47ADCE2}"/>
              </a:ext>
            </a:extLst>
          </p:cNvPr>
          <p:cNvSpPr txBox="1"/>
          <p:nvPr/>
        </p:nvSpPr>
        <p:spPr>
          <a:xfrm>
            <a:off x="1862667" y="5623592"/>
            <a:ext cx="783166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Results are mixed by horizon: LSTM has lower RMSE at 1-day, while SimpleRNN has lower RMSE at 5-day and 10-day.</a:t>
            </a:r>
            <a:endParaRPr lang="en-IN" sz="14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72943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88D6F6-98E2-F3BA-AC01-5B2F859112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41" y="356658"/>
            <a:ext cx="12176059" cy="1325563"/>
          </a:xfrm>
        </p:spPr>
        <p:txBody>
          <a:bodyPr>
            <a:normAutofit/>
          </a:bodyPr>
          <a:lstStyle/>
          <a:p>
            <a:pPr algn="ctr"/>
            <a:r>
              <a:rPr lang="en-IN" sz="36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ACTUAL vs PREDICTED CLOSING PRICE</a:t>
            </a:r>
          </a:p>
        </p:txBody>
      </p:sp>
      <p:pic>
        <p:nvPicPr>
          <p:cNvPr id="9" name="Image 0" descr="cell40_img9.png">
            <a:extLst>
              <a:ext uri="{FF2B5EF4-FFF2-40B4-BE49-F238E27FC236}">
                <a16:creationId xmlns:a16="http://schemas.microsoft.com/office/drawing/2014/main" id="{E5A64B04-D4AB-3012-598D-E6DD30D8DA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8083" y="1768829"/>
            <a:ext cx="5881702" cy="435133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E15453E-99AB-B73B-28D3-DE46A37B0E0E}"/>
              </a:ext>
            </a:extLst>
          </p:cNvPr>
          <p:cNvSpPr txBox="1"/>
          <p:nvPr/>
        </p:nvSpPr>
        <p:spPr>
          <a:xfrm>
            <a:off x="6858231" y="2782669"/>
            <a:ext cx="439396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OBSERVATION</a:t>
            </a:r>
          </a:p>
          <a:p>
            <a:pPr>
              <a:buNone/>
            </a:pPr>
            <a:endParaRPr lang="en-US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3CB59E1-12B7-B975-B556-82BD4CACD6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93468" y="3205833"/>
            <a:ext cx="5183665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1-Day: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Predictions closely follow actual prices.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5-Day: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Slightly higher prediction error.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10-Day: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Error increases as forecast horizon grows.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Overall: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SimpleRNN tracks the actual trend better than LSTM. </a:t>
            </a:r>
          </a:p>
        </p:txBody>
      </p:sp>
    </p:spTree>
    <p:extLst>
      <p:ext uri="{BB962C8B-B14F-4D97-AF65-F5344CB8AC3E}">
        <p14:creationId xmlns:p14="http://schemas.microsoft.com/office/powerpoint/2010/main" val="20998383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7B5205D-B1D4-90AB-19B2-3ADF6758E832}"/>
              </a:ext>
            </a:extLst>
          </p:cNvPr>
          <p:cNvSpPr txBox="1"/>
          <p:nvPr/>
        </p:nvSpPr>
        <p:spPr>
          <a:xfrm>
            <a:off x="1341120" y="457200"/>
            <a:ext cx="80314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MODEL COMPARISON — RMSE BY HORIZON</a:t>
            </a:r>
            <a:endParaRPr lang="en-IN" sz="2800" b="1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73E9E0-2344-A2A4-A5B8-CD7E9819034A}"/>
              </a:ext>
            </a:extLst>
          </p:cNvPr>
          <p:cNvSpPr txBox="1"/>
          <p:nvPr/>
        </p:nvSpPr>
        <p:spPr>
          <a:xfrm>
            <a:off x="6233159" y="2628031"/>
            <a:ext cx="532185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OBSERVATION</a:t>
            </a:r>
          </a:p>
          <a:p>
            <a:pPr>
              <a:buNone/>
            </a:pPr>
            <a:endParaRPr lang="en-US" b="1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0F79486-CD78-C99E-48E9-9A0CD853B3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33159" y="3008931"/>
            <a:ext cx="5165197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1-Day: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LSTM has lower RMSE.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5-Day: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SimpleRNN has lower RMSE.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10-Day: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SimpleRNN has lower RMSE.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Overall: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Mixed — LSTM wins at 1-day, SimpleRNN wins at 5-day and 10-day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0441C3-6E81-0E70-4901-2049D40151E3}"/>
              </a:ext>
            </a:extLst>
          </p:cNvPr>
          <p:cNvSpPr txBox="1"/>
          <p:nvPr/>
        </p:nvSpPr>
        <p:spPr>
          <a:xfrm>
            <a:off x="3315393" y="5847665"/>
            <a:ext cx="60973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single model dominates every horizon on this run — performance varies by forecast window.</a:t>
            </a:r>
            <a:endParaRPr lang="en-IN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Picture 11" descr="rmse_comparison_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373" y="1775587"/>
            <a:ext cx="4790123" cy="3804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00783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1">
            <a:extLst>
              <a:ext uri="{FF2B5EF4-FFF2-40B4-BE49-F238E27FC236}">
                <a16:creationId xmlns:a16="http://schemas.microsoft.com/office/drawing/2014/main" id="{89EA4F78-8B10-F451-FB56-ADFD3E126735}"/>
              </a:ext>
            </a:extLst>
          </p:cNvPr>
          <p:cNvSpPr/>
          <p:nvPr/>
        </p:nvSpPr>
        <p:spPr>
          <a:xfrm>
            <a:off x="2003367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GridSearchCV on the LSTM (1-day)</a:t>
            </a:r>
            <a:endParaRPr lang="en-US" sz="3000" dirty="0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34F77E2E-6DB6-8BB4-2D38-91CDECF3CA45}"/>
              </a:ext>
            </a:extLst>
          </p:cNvPr>
          <p:cNvSpPr/>
          <p:nvPr/>
        </p:nvSpPr>
        <p:spPr>
          <a:xfrm>
            <a:off x="480907" y="17373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searched over units, dropout, and learning rate (2×2×2 = 8 combinations, cv = 2):</a:t>
            </a:r>
            <a:endParaRPr lang="en-US" sz="1300" dirty="0"/>
          </a:p>
        </p:txBody>
      </p:sp>
      <p:graphicFrame>
        <p:nvGraphicFramePr>
          <p:cNvPr id="7" name="Table 0">
            <a:extLst>
              <a:ext uri="{FF2B5EF4-FFF2-40B4-BE49-F238E27FC236}">
                <a16:creationId xmlns:a16="http://schemas.microsoft.com/office/drawing/2014/main" id="{41D0AC4B-27C8-22C4-5B20-63888197A84D}"/>
              </a:ext>
            </a:extLst>
          </p:cNvPr>
          <p:cNvGraphicFramePr>
            <a:graphicFrameLocks noGrp="1"/>
          </p:cNvGraphicFramePr>
          <p:nvPr/>
        </p:nvGraphicFramePr>
        <p:xfrm>
          <a:off x="548640" y="2148840"/>
          <a:ext cx="6583680" cy="210312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Dropout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 Rate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CV Score (neg MSE)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F9D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F9D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F9D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F9D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-0.002035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1F9D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(Best)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-0.002115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-0.002553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-0.003327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3">
            <a:extLst>
              <a:ext uri="{FF2B5EF4-FFF2-40B4-BE49-F238E27FC236}">
                <a16:creationId xmlns:a16="http://schemas.microsoft.com/office/drawing/2014/main" id="{7D9FB3EB-B416-7BAA-BD7E-67CF163FD976}"/>
              </a:ext>
            </a:extLst>
          </p:cNvPr>
          <p:cNvSpPr/>
          <p:nvPr/>
        </p:nvSpPr>
        <p:spPr>
          <a:xfrm>
            <a:off x="7680960" y="2148840"/>
            <a:ext cx="4160520" cy="3886200"/>
          </a:xfrm>
          <a:prstGeom prst="roundRect">
            <a:avLst>
              <a:gd name="adj" fmla="val 2353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408E6C28-F8A7-D448-ED8A-11E3D047B5F5}"/>
              </a:ext>
            </a:extLst>
          </p:cNvPr>
          <p:cNvSpPr/>
          <p:nvPr/>
        </p:nvSpPr>
        <p:spPr>
          <a:xfrm>
            <a:off x="7863840" y="23545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9FD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TUNED LSTM (1-DAY)</a:t>
            </a:r>
            <a:endParaRPr lang="en-US" sz="1200" dirty="0"/>
          </a:p>
        </p:txBody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826A8524-8EAF-8D7C-C841-A9BB4E4B3192}"/>
              </a:ext>
            </a:extLst>
          </p:cNvPr>
          <p:cNvSpPr/>
          <p:nvPr/>
        </p:nvSpPr>
        <p:spPr>
          <a:xfrm>
            <a:off x="7863840" y="269748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TBD</a:t>
            </a:r>
            <a:endParaRPr lang="en-US" sz="4400" dirty="0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4B69E1B5-004B-3A53-EE93-59232AAEBAA1}"/>
              </a:ext>
            </a:extLst>
          </p:cNvPr>
          <p:cNvSpPr/>
          <p:nvPr/>
        </p:nvSpPr>
        <p:spPr>
          <a:xfrm>
            <a:off x="7726680" y="352044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— best params: 64 units, 0.3 dropout, lr = 0.005</a:t>
            </a:r>
            <a:endParaRPr lang="en-US" sz="1200" dirty="0"/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88748E47-D398-8AEB-09FA-73515BE9FA10}"/>
              </a:ext>
            </a:extLst>
          </p:cNvPr>
          <p:cNvSpPr/>
          <p:nvPr/>
        </p:nvSpPr>
        <p:spPr>
          <a:xfrm>
            <a:off x="7726680" y="4160520"/>
            <a:ext cx="3520440" cy="0"/>
          </a:xfrm>
          <a:prstGeom prst="line">
            <a:avLst/>
          </a:prstGeom>
          <a:noFill/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F52EC433-044E-E990-3259-E7FC0841CAF6}"/>
              </a:ext>
            </a:extLst>
          </p:cNvPr>
          <p:cNvSpPr/>
          <p:nvPr/>
        </p:nvSpPr>
        <p:spPr>
          <a:xfrm>
            <a:off x="7726680" y="429768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untuned LSTM baseline: </a:t>
            </a:r>
            <a:r>
              <a:rPr lang="en-US" sz="1250" b="1" dirty="0">
                <a:solidFill>
                  <a:srgbClr val="FF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26.45 RMSE</a:t>
            </a:r>
            <a:endParaRPr lang="en-US" sz="1250" dirty="0"/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DC42ACEC-1326-FC87-0502-94A37E5C7799}"/>
              </a:ext>
            </a:extLst>
          </p:cNvPr>
          <p:cNvSpPr/>
          <p:nvPr/>
        </p:nvSpPr>
        <p:spPr>
          <a:xfrm>
            <a:off x="7726680" y="489204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Retrained with the new best params — final tuned RMSE pending re-run confirmation.</a:t>
            </a:r>
            <a:endParaRPr lang="en-US" sz="1250" dirty="0"/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CA66F46D-C13E-CFFF-6B6B-AD861DB55CA7}"/>
              </a:ext>
            </a:extLst>
          </p:cNvPr>
          <p:cNvSpPr/>
          <p:nvPr/>
        </p:nvSpPr>
        <p:spPr>
          <a:xfrm>
            <a:off x="1161288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9829973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1">
            <a:extLst>
              <a:ext uri="{FF2B5EF4-FFF2-40B4-BE49-F238E27FC236}">
                <a16:creationId xmlns:a16="http://schemas.microsoft.com/office/drawing/2014/main" id="{2BAC877B-B239-E542-CEA4-F9AD2120E454}"/>
              </a:ext>
            </a:extLst>
          </p:cNvPr>
          <p:cNvSpPr/>
          <p:nvPr/>
        </p:nvSpPr>
        <p:spPr>
          <a:xfrm>
            <a:off x="2427316" y="652549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10-Day Forward Recursive Forecast</a:t>
            </a:r>
            <a:endParaRPr lang="en-US" sz="3000" dirty="0"/>
          </a:p>
        </p:txBody>
      </p:sp>
      <p:pic>
        <p:nvPicPr>
          <p:cNvPr id="6" name="Image 0" descr="/home/claude/nb_images/11_forecast_10day.png">
            <a:extLst>
              <a:ext uri="{FF2B5EF4-FFF2-40B4-BE49-F238E27FC236}">
                <a16:creationId xmlns:a16="http://schemas.microsoft.com/office/drawing/2014/main" id="{30CBB988-F576-2A6B-1FAA-3C3FAB8A11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691640"/>
            <a:ext cx="5577840" cy="3346704"/>
          </a:xfrm>
          <a:prstGeom prst="rect">
            <a:avLst/>
          </a:prstGeom>
        </p:spPr>
      </p:pic>
      <p:sp>
        <p:nvSpPr>
          <p:cNvPr id="7" name="Text 2">
            <a:extLst>
              <a:ext uri="{FF2B5EF4-FFF2-40B4-BE49-F238E27FC236}">
                <a16:creationId xmlns:a16="http://schemas.microsoft.com/office/drawing/2014/main" id="{22730E30-5142-720C-EE91-D5CB4346106F}"/>
              </a:ext>
            </a:extLst>
          </p:cNvPr>
          <p:cNvSpPr/>
          <p:nvPr/>
        </p:nvSpPr>
        <p:spPr>
          <a:xfrm>
            <a:off x="548640" y="52120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the tuned 1-day LSTM recursively — each predicted day feeds back in as input for the next.</a:t>
            </a:r>
            <a:endParaRPr lang="en-US" sz="1250" dirty="0"/>
          </a:p>
        </p:txBody>
      </p:sp>
    </p:spTree>
    <p:extLst>
      <p:ext uri="{BB962C8B-B14F-4D97-AF65-F5344CB8AC3E}">
        <p14:creationId xmlns:p14="http://schemas.microsoft.com/office/powerpoint/2010/main" val="22458640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1">
            <a:extLst>
              <a:ext uri="{FF2B5EF4-FFF2-40B4-BE49-F238E27FC236}">
                <a16:creationId xmlns:a16="http://schemas.microsoft.com/office/drawing/2014/main" id="{AAB0B2A0-7F81-A7DA-BCC9-19DBC3431D72}"/>
              </a:ext>
            </a:extLst>
          </p:cNvPr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News Headline Sentiment Analysis</a:t>
            </a:r>
            <a:endParaRPr lang="en-US" sz="3000" dirty="0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8038F22F-608D-59F9-7298-A71304129802}"/>
              </a:ext>
            </a:extLst>
          </p:cNvPr>
          <p:cNvSpPr/>
          <p:nvPr/>
        </p:nvSpPr>
        <p:spPr>
          <a:xfrm>
            <a:off x="548640" y="1691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real Tesla headlines (2013–2020) cleaned and scored with VADER SentimentIntensityAnalyzer:</a:t>
            </a:r>
            <a:endParaRPr lang="en-US" sz="1300" dirty="0"/>
          </a:p>
        </p:txBody>
      </p:sp>
      <p:pic>
        <p:nvPicPr>
          <p:cNvPr id="7" name="Image 0" descr="/home/claude/nb_images/12_sentiment_dist.png">
            <a:extLst>
              <a:ext uri="{FF2B5EF4-FFF2-40B4-BE49-F238E27FC236}">
                <a16:creationId xmlns:a16="http://schemas.microsoft.com/office/drawing/2014/main" id="{E4C87DDC-E48A-A0BD-F0B6-713EF72988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2148840"/>
            <a:ext cx="4572000" cy="2916936"/>
          </a:xfrm>
          <a:prstGeom prst="rect">
            <a:avLst/>
          </a:prstGeom>
        </p:spPr>
      </p:pic>
      <p:sp>
        <p:nvSpPr>
          <p:cNvPr id="8" name="Shape 3">
            <a:extLst>
              <a:ext uri="{FF2B5EF4-FFF2-40B4-BE49-F238E27FC236}">
                <a16:creationId xmlns:a16="http://schemas.microsoft.com/office/drawing/2014/main" id="{EA441914-038A-C2B6-1A02-09D86D230040}"/>
              </a:ext>
            </a:extLst>
          </p:cNvPr>
          <p:cNvSpPr/>
          <p:nvPr/>
        </p:nvSpPr>
        <p:spPr>
          <a:xfrm>
            <a:off x="6492240" y="2286000"/>
            <a:ext cx="5120640" cy="2743200"/>
          </a:xfrm>
          <a:prstGeom prst="roundRect">
            <a:avLst>
              <a:gd name="adj" fmla="val 3333"/>
            </a:avLst>
          </a:prstGeom>
          <a:solidFill>
            <a:srgbClr val="F4F8FA"/>
          </a:solidFill>
          <a:ln/>
        </p:spPr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0B7A5603-37A7-82BC-C14B-E4304551B9B4}"/>
              </a:ext>
            </a:extLst>
          </p:cNvPr>
          <p:cNvSpPr/>
          <p:nvPr/>
        </p:nvSpPr>
        <p:spPr>
          <a:xfrm>
            <a:off x="6766560" y="2514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Correlation: Sentiment vs. Same-Day Return</a:t>
            </a:r>
            <a:endParaRPr lang="en-US" sz="1300" dirty="0"/>
          </a:p>
        </p:txBody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52BE5B13-0C08-864B-E310-B52B1A637124}"/>
              </a:ext>
            </a:extLst>
          </p:cNvPr>
          <p:cNvSpPr/>
          <p:nvPr/>
        </p:nvSpPr>
        <p:spPr>
          <a:xfrm>
            <a:off x="6766560" y="2926080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0.31</a:t>
            </a:r>
            <a:endParaRPr lang="en-US" sz="4800" dirty="0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B35D9561-E56F-EB4F-B2A7-AF2F6FCBC5FA}"/>
              </a:ext>
            </a:extLst>
          </p:cNvPr>
          <p:cNvSpPr/>
          <p:nvPr/>
        </p:nvSpPr>
        <p:spPr>
          <a:xfrm>
            <a:off x="6766560" y="3794760"/>
            <a:ext cx="45720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 positive correlation — positive news headlines tend to line up with positive same-day stock movement.</a:t>
            </a:r>
            <a:endParaRPr lang="en-US" sz="1250" dirty="0"/>
          </a:p>
        </p:txBody>
      </p:sp>
    </p:spTree>
    <p:extLst>
      <p:ext uri="{BB962C8B-B14F-4D97-AF65-F5344CB8AC3E}">
        <p14:creationId xmlns:p14="http://schemas.microsoft.com/office/powerpoint/2010/main" val="18920013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1">
            <a:extLst>
              <a:ext uri="{FF2B5EF4-FFF2-40B4-BE49-F238E27FC236}">
                <a16:creationId xmlns:a16="http://schemas.microsoft.com/office/drawing/2014/main" id="{F882AA2E-A465-644A-80AA-36C5FB684568}"/>
              </a:ext>
            </a:extLst>
          </p:cNvPr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Headline Sentiment vs. Stock Return</a:t>
            </a:r>
            <a:endParaRPr lang="en-US" sz="3000" dirty="0"/>
          </a:p>
        </p:txBody>
      </p:sp>
      <p:pic>
        <p:nvPicPr>
          <p:cNvPr id="6" name="Image 0" descr="/home/claude/nb_images/13_sentiment_vs_return.png">
            <a:extLst>
              <a:ext uri="{FF2B5EF4-FFF2-40B4-BE49-F238E27FC236}">
                <a16:creationId xmlns:a16="http://schemas.microsoft.com/office/drawing/2014/main" id="{FF096283-FB63-E8B5-57E8-89A792A41A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1691640"/>
            <a:ext cx="9052560" cy="4069080"/>
          </a:xfrm>
          <a:prstGeom prst="rect">
            <a:avLst/>
          </a:prstGeom>
        </p:spPr>
      </p:pic>
      <p:sp>
        <p:nvSpPr>
          <p:cNvPr id="7" name="Text 2">
            <a:extLst>
              <a:ext uri="{FF2B5EF4-FFF2-40B4-BE49-F238E27FC236}">
                <a16:creationId xmlns:a16="http://schemas.microsoft.com/office/drawing/2014/main" id="{999D061F-01F3-ED29-69F6-92866780DDCA}"/>
              </a:ext>
            </a:extLst>
          </p:cNvPr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Positive-sentiment headlines (e.g. record profit, delivery beats) cluster with days of positive stock return.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0827292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81835C-01CA-BC9F-9225-7F5789E87E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0235"/>
          </a:xfrm>
        </p:spPr>
        <p:txBody>
          <a:bodyPr>
            <a:normAutofit fontScale="90000"/>
          </a:bodyPr>
          <a:lstStyle/>
          <a:p>
            <a:pPr algn="ctr"/>
            <a:r>
              <a:rPr lang="en-IN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BUSINESS USE CASES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11833F-5F2E-641F-3A7F-1B510DED7F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Automated Trading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Supports buy/sell decision making. 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be integrated with trading systems. </a:t>
            </a:r>
            <a:endParaRPr lang="en-US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Risk Management</a:t>
            </a:r>
          </a:p>
          <a:p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Helps estimate future price movement. </a:t>
            </a:r>
          </a:p>
          <a:p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Assists in portfolio risk analysis.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Investment Planning</a:t>
            </a:r>
          </a:p>
          <a:p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Supports short- and medium-term investment decisions. </a:t>
            </a:r>
          </a:p>
          <a:p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Useful for portfolio allocation.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Research &amp; Analysis</a:t>
            </a:r>
          </a:p>
          <a:p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Serves as a baseline for comparing advanced forecasting models.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002217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1">
            <a:extLst>
              <a:ext uri="{FF2B5EF4-FFF2-40B4-BE49-F238E27FC236}">
                <a16:creationId xmlns:a16="http://schemas.microsoft.com/office/drawing/2014/main" id="{8CAC2CCF-02A0-208B-6CC4-D932C430FAAD}"/>
              </a:ext>
            </a:extLst>
          </p:cNvPr>
          <p:cNvSpPr/>
          <p:nvPr/>
        </p:nvSpPr>
        <p:spPr>
          <a:xfrm>
            <a:off x="457199" y="324196"/>
            <a:ext cx="1126374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kern="0" spc="200" dirty="0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CONCLUSION</a:t>
            </a:r>
            <a:endParaRPr lang="en-US" sz="4000" dirty="0"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FFFF0A36-7154-9504-EB13-CEB417D5D7C4}"/>
              </a:ext>
            </a:extLst>
          </p:cNvPr>
          <p:cNvSpPr/>
          <p:nvPr/>
        </p:nvSpPr>
        <p:spPr>
          <a:xfrm>
            <a:off x="731520" y="1806563"/>
            <a:ext cx="9144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accent1">
                    <a:lumMod val="50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Model Wins?</a:t>
            </a:r>
            <a:endParaRPr lang="en-US" sz="32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4551F27E-1BAC-7D3E-C67E-0510D051F3D7}"/>
              </a:ext>
            </a:extLst>
          </p:cNvPr>
          <p:cNvSpPr/>
          <p:nvPr/>
        </p:nvSpPr>
        <p:spPr>
          <a:xfrm>
            <a:off x="731520" y="2814897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chemeClr val="accent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OUT-OF-THE-BOX WINNER</a:t>
            </a:r>
            <a:endParaRPr lang="en-US" sz="115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78BEB182-44A2-BB53-4463-5E141E027BDA}"/>
              </a:ext>
            </a:extLst>
          </p:cNvPr>
          <p:cNvSpPr/>
          <p:nvPr/>
        </p:nvSpPr>
        <p:spPr>
          <a:xfrm>
            <a:off x="731520" y="304412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accent1">
                    <a:lumMod val="50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Mixed Results</a:t>
            </a:r>
            <a:endParaRPr lang="en-US" sz="30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22E5E776-CC73-B031-0EA6-A1A55C6DBE10}"/>
              </a:ext>
            </a:extLst>
          </p:cNvPr>
          <p:cNvSpPr/>
          <p:nvPr/>
        </p:nvSpPr>
        <p:spPr>
          <a:xfrm>
            <a:off x="731520" y="3409880"/>
            <a:ext cx="4846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chemeClr val="accent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has lower RMSE at 1-day (26.45 vs 27.08); SimpleRNN has lower RMSE at 5-day and 10-day (40.67 vs 42.28, 46.87 vs 51.10).</a:t>
            </a:r>
            <a:endParaRPr lang="en-US" sz="13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F5E3A09E-01A0-7124-394E-993F96A3541E}"/>
              </a:ext>
            </a:extLst>
          </p:cNvPr>
          <p:cNvSpPr/>
          <p:nvPr/>
        </p:nvSpPr>
        <p:spPr>
          <a:xfrm>
            <a:off x="6400800" y="2654877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chemeClr val="accent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AFTER TUNING</a:t>
            </a:r>
            <a:endParaRPr lang="en-US" sz="115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44D7F9EE-6727-2508-F68A-7C0F86D4D292}"/>
              </a:ext>
            </a:extLst>
          </p:cNvPr>
          <p:cNvSpPr/>
          <p:nvPr/>
        </p:nvSpPr>
        <p:spPr>
          <a:xfrm>
            <a:off x="6400800" y="2905713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accent1">
                    <a:lumMod val="50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Tuned LSTM</a:t>
            </a:r>
            <a:endParaRPr lang="en-US" sz="30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7D552999-FA7C-0AC7-0D53-8900E028B34E}"/>
              </a:ext>
            </a:extLst>
          </p:cNvPr>
          <p:cNvSpPr/>
          <p:nvPr/>
        </p:nvSpPr>
        <p:spPr>
          <a:xfrm>
            <a:off x="6400800" y="3364160"/>
            <a:ext cx="4846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chemeClr val="accent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GridSearchCV selected 64 units, 0.3 dropout, lr=0.005 (best CV score -0.002035) — final retrained RMSE pending confirmation.</a:t>
            </a:r>
            <a:endParaRPr lang="en-US" sz="13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8C3060A2-A1D0-C7AB-145B-51E36FAE5B44}"/>
              </a:ext>
            </a:extLst>
          </p:cNvPr>
          <p:cNvSpPr/>
          <p:nvPr/>
        </p:nvSpPr>
        <p:spPr>
          <a:xfrm>
            <a:off x="914400" y="4692534"/>
            <a:ext cx="110642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5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this run, no single model wins every horizon — LSTM edges ahead at 1-day, SimpleRNN at 5-day and 10-day. This kind of run-to-run variation is expected with neural network training. Adding news sentiment as an extra input channel remains the clear next step.</a:t>
            </a:r>
            <a:endParaRPr lang="en-US" sz="1450" dirty="0">
              <a:solidFill>
                <a:schemeClr val="accent1"/>
              </a:solidFill>
            </a:endParaRPr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EB43567E-B046-BFC6-00AC-DD3A6B12B23A}"/>
              </a:ext>
            </a:extLst>
          </p:cNvPr>
          <p:cNvSpPr/>
          <p:nvPr/>
        </p:nvSpPr>
        <p:spPr>
          <a:xfrm>
            <a:off x="11521440" y="634094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chemeClr val="accent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89454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5BEDD27-D7C3-DC3C-98BF-EC715C960734}"/>
              </a:ext>
            </a:extLst>
          </p:cNvPr>
          <p:cNvSpPr txBox="1"/>
          <p:nvPr/>
        </p:nvSpPr>
        <p:spPr>
          <a:xfrm>
            <a:off x="1047402" y="1396538"/>
            <a:ext cx="8057110" cy="4431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Key Insights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b="1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 are mixed by horizon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LSTM has the lower RMSE at 1-day, while SimpleRNN has the lower RMSE at 5-day and 10-day.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Prediction accuracy decreases as the forecast horizon increases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10-day forecasting is more challenging than 1-day forecasting.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LSTM tuning results are pending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using the new best params (64 units, 0.3 dropout, lr=0.005) from GridSearchCV.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Recursive forecasting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can capture the general trend but becomes less reliable further into the future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b="1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single model dominates every horizon on this run; LSTM performs best short-term (1-day) while SimpleRNN performs best further out (5-day, 10-day). Future work can combine stock data with news sentiment to further improve forecasting accuracy</a:t>
            </a: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7FC42D-04A7-E004-0F0F-2C64189C3942}"/>
              </a:ext>
            </a:extLst>
          </p:cNvPr>
          <p:cNvSpPr txBox="1"/>
          <p:nvPr/>
        </p:nvSpPr>
        <p:spPr>
          <a:xfrm>
            <a:off x="2824250" y="293316"/>
            <a:ext cx="609738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32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INSIGHTS &amp; CONCLUSION</a:t>
            </a:r>
          </a:p>
        </p:txBody>
      </p:sp>
    </p:spTree>
    <p:extLst>
      <p:ext uri="{BB962C8B-B14F-4D97-AF65-F5344CB8AC3E}">
        <p14:creationId xmlns:p14="http://schemas.microsoft.com/office/powerpoint/2010/main" val="35957122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487</TotalTime>
  <Words>1395</Words>
  <Application>Microsoft Office PowerPoint</Application>
  <PresentationFormat>Widescreen</PresentationFormat>
  <Paragraphs>276</Paragraphs>
  <Slides>22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Arial</vt:lpstr>
      <vt:lpstr>Calibri</vt:lpstr>
      <vt:lpstr>Calibri Light</vt:lpstr>
      <vt:lpstr>Cambria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UNIVARIATE ANALYSIS – FEATURE DISTRIBUTION </vt:lpstr>
      <vt:lpstr>BIVARIATE ANALYSIS- PRICE TREND &amp; TRADING VOLUME</vt:lpstr>
      <vt:lpstr>MULTIVARIATE ANALYSIS – CORRELATION HEAT MAP</vt:lpstr>
      <vt:lpstr>PowerPoint Presentation</vt:lpstr>
      <vt:lpstr>PowerPoint Presentation</vt:lpstr>
      <vt:lpstr>SimpleRNN vs LSTM Architecture</vt:lpstr>
      <vt:lpstr>TRAINING CURVES - All 3 HORIZONS</vt:lpstr>
      <vt:lpstr>PowerPoint Presentation</vt:lpstr>
      <vt:lpstr>PowerPoint Presentation</vt:lpstr>
      <vt:lpstr>ACTUAL vs PREDICTED CLOSING PRICE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BUSINESS USE CASES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logesh kumar</dc:creator>
  <cp:lastModifiedBy>logesh kumar</cp:lastModifiedBy>
  <cp:revision>13</cp:revision>
  <dcterms:created xsi:type="dcterms:W3CDTF">2026-08-07T01:24:56Z</dcterms:created>
  <dcterms:modified xsi:type="dcterms:W3CDTF">2026-08-10T05:24:23Z</dcterms:modified>
</cp:coreProperties>
</file>