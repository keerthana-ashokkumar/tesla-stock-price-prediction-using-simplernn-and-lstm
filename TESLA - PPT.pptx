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668" autoAdjust="0"/>
    <p:restoredTop sz="94660"/>
  </p:normalViewPr>
  <p:slideViewPr>
    <p:cSldViewPr snapToGrid="0">
      <p:cViewPr varScale="1">
        <p:scale>
          <a:sx n="88" d="100"/>
          <a:sy n="88" d="100"/>
        </p:scale>
        <p:origin x="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4589BB-853D-4892-8CD5-DB847EF3B6E5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F5ECA-2981-4D48-A2BF-674CABF9E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4291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AF5ECA-2981-4D48-A2BF-674CABF9ED88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03871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AF5ECA-2981-4D48-A2BF-674CABF9ED88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1617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AF5ECA-2981-4D48-A2BF-674CABF9ED88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7679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AF5ECA-2981-4D48-A2BF-674CABF9ED88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7448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23E3C-BC01-79D6-0105-AFB72C8789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FC7AAF-8B14-0229-E4FA-E77FF60090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775D90-1E81-7537-A28B-3310AA23F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F9AA3-2EE2-454A-9B26-DC73DE51EA5D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32541-3DE1-F820-0BB4-D88F1D551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342795-E1C7-FAC8-2BED-EC3E36475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27468-9B4F-4493-867F-79D2942293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0192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D6A89-40B0-2920-85F2-B6CB3E021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62BF6-B9ED-064F-C52F-AFF3052AD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215E8B-5878-48A0-1636-9E4773200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F9AA3-2EE2-454A-9B26-DC73DE51EA5D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343864-2F80-C4C0-4379-11FFF45ED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6C250F-56A0-444E-F30A-20F099312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27468-9B4F-4493-867F-79D2942293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1695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3F6D5-2C34-3FFB-022B-3B14DD2CC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779BB8-E71C-2B7F-E7DE-73FD1E894D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136DF0-7D80-0BFE-AA39-07C521610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F9AA3-2EE2-454A-9B26-DC73DE51EA5D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AE6B46-91B1-12E7-13A0-89B5216ED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84D7D7-FFD9-8042-2284-6FBE5EA22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27468-9B4F-4493-867F-79D2942293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0033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9D260-0A84-C0B4-83B7-BC772B6D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FEFA5D-F182-602F-F310-78250BFAC2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CA6992-0116-C91B-BC5A-F182FF569E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FB3ACF-2E4E-9E25-1DBF-92EDEC894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F9AA3-2EE2-454A-9B26-DC73DE51EA5D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B56DB-3F4F-C4F0-9DF4-5AB8A69C1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45B2FC-2B19-2F2C-AEAC-047C739B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27468-9B4F-4493-867F-79D2942293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815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D4766-D8FC-ACE8-5781-5B7E955AE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A25E1F-4A58-A1CA-57A0-A76C1C175C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5D5722-50A8-0363-88C7-9197A77E05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63B42C-88E6-85DF-C3C0-5EFFC92091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E97353-8411-9013-D993-DF36665D94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63688A-8BF3-BC54-6447-63FA02F90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F9AA3-2EE2-454A-9B26-DC73DE51EA5D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CC319D-C018-E92E-1ECA-2C9084BB9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C9BC43-4220-FB04-87EE-365EA2789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27468-9B4F-4493-867F-79D2942293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4530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A3EB6-33E6-8D14-12F9-45B01C391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198AB8-CFBF-C018-D5C3-D01E06A49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F9AA3-2EE2-454A-9B26-DC73DE51EA5D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43CC4E-4A38-7ACB-3D0F-A33F678D2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63A9CC-A929-EFCB-DDA4-36B4518E9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27468-9B4F-4493-867F-79D2942293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5675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6F3364-FD8A-27DC-92DF-E4ADA11EA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F9AA3-2EE2-454A-9B26-DC73DE51EA5D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432ED5-C5A7-481E-E236-6C0015925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26BB9D-1B99-82FC-F688-A03DDDB71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27468-9B4F-4493-867F-79D2942293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2126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2A43A-949C-F25B-689C-88B06DFEF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A21E0-7612-97D2-99E8-ABD2EDCC63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63ADE4-728F-70AC-43EE-10589B9353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BAA9DF-C7D5-55FD-1967-547BD9ABE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F9AA3-2EE2-454A-9B26-DC73DE51EA5D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74A2E0-74AA-B8F7-9742-E61FD9456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84A475-1E25-4068-72D4-05B1C4B0C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27468-9B4F-4493-867F-79D2942293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310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E47F4-4339-8940-220E-CE3765BED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F7D946-375E-D5C2-9DE4-F645AA43BE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6C289A-F324-56D4-0A9C-F79AB56B8F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3B5E54-67DB-9F0B-D83C-33299668B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F9AA3-2EE2-454A-9B26-DC73DE51EA5D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2EE809-45B1-1B96-4C74-234869CC2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4855DC-044B-B342-24F3-58A16AC0D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27468-9B4F-4493-867F-79D2942293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775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DB215-BE4C-C993-EA4D-C418BE840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4F73CB-6B89-7051-2E05-BBE05D1F89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1C931-98CD-15F3-0FBB-3F79FA277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F9AA3-2EE2-454A-9B26-DC73DE51EA5D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8B969-5C04-2785-B728-A696AD76B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E6F74E-84CF-CFAA-7FCD-DAFD86D1C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27468-9B4F-4493-867F-79D2942293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617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4F8C1B-60A1-5003-47BA-687647351F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E7EA89-1233-4EE6-E6C1-D54161B273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5BFADD-4CF6-A949-6EB2-4CEF172B9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F9AA3-2EE2-454A-9B26-DC73DE51EA5D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3A9F54-8C16-1231-C38A-48B5A98D0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F8391-8FB5-0746-5A0C-999C9A6B2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27468-9B4F-4493-867F-79D2942293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856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44C645-BF17-492A-B11C-9C5178F38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1AF500-5936-BBB8-2BA8-6BA8554BE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B823D8-ED6C-3E8E-A419-D5A89EBE1C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3F9AA3-2EE2-454A-9B26-DC73DE51EA5D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A5480C-F411-B924-7131-8DC30E15F3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C5A6B5-3B2E-9BC5-FDA0-3105016350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027468-9B4F-4493-867F-79D2942293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4736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2AC70C3-25BD-6356-1E9F-2DB246B083D7}"/>
              </a:ext>
            </a:extLst>
          </p:cNvPr>
          <p:cNvSpPr txBox="1">
            <a:spLocks/>
          </p:cNvSpPr>
          <p:nvPr/>
        </p:nvSpPr>
        <p:spPr>
          <a:xfrm>
            <a:off x="1150069" y="1040087"/>
            <a:ext cx="10086681" cy="7198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8581C00-DF9C-9B3D-9EC1-F8505CB1377B}"/>
              </a:ext>
            </a:extLst>
          </p:cNvPr>
          <p:cNvSpPr txBox="1">
            <a:spLocks/>
          </p:cNvSpPr>
          <p:nvPr/>
        </p:nvSpPr>
        <p:spPr>
          <a:xfrm>
            <a:off x="1150069" y="2121031"/>
            <a:ext cx="10086681" cy="4329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–   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FINANCIAL ANALYTICS</a:t>
            </a:r>
          </a:p>
          <a:p>
            <a:endParaRPr lang="en-IN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KEERTHANA A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A3E81F8-A42B-B8E1-C675-E20C44E72E5D}"/>
              </a:ext>
            </a:extLst>
          </p:cNvPr>
          <p:cNvSpPr/>
          <p:nvPr/>
        </p:nvSpPr>
        <p:spPr>
          <a:xfrm>
            <a:off x="1676400" y="754134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TESLA STOCK PRICE PREDICTION</a:t>
            </a:r>
          </a:p>
          <a:p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DEEP LEARNING (SimpleRNN &amp; LSTM</a:t>
            </a:r>
            <a:r>
              <a:rPr lang="en-US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91758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 1">
            <a:extLst>
              <a:ext uri="{FF2B5EF4-FFF2-40B4-BE49-F238E27FC236}">
                <a16:creationId xmlns:a16="http://schemas.microsoft.com/office/drawing/2014/main" id="{C7801A1A-5E1D-32EE-0353-6CC23A34B40B}"/>
              </a:ext>
            </a:extLst>
          </p:cNvPr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</a:rPr>
              <a:t>WORK FLOW</a:t>
            </a:r>
            <a:endParaRPr lang="en-US" sz="3000" dirty="0">
              <a:solidFill>
                <a:schemeClr val="accent1"/>
              </a:solidFill>
            </a:endParaRPr>
          </a:p>
        </p:txBody>
      </p:sp>
      <p:sp>
        <p:nvSpPr>
          <p:cNvPr id="44" name="Text 5">
            <a:extLst>
              <a:ext uri="{FF2B5EF4-FFF2-40B4-BE49-F238E27FC236}">
                <a16:creationId xmlns:a16="http://schemas.microsoft.com/office/drawing/2014/main" id="{554D720F-659F-95F6-D237-B4DF2482EDDB}"/>
              </a:ext>
            </a:extLst>
          </p:cNvPr>
          <p:cNvSpPr/>
          <p:nvPr/>
        </p:nvSpPr>
        <p:spPr>
          <a:xfrm>
            <a:off x="1110004" y="1424397"/>
            <a:ext cx="4456523" cy="507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Analyze &amp; clean Tesla stock data (2010–2020)</a:t>
            </a:r>
            <a:endParaRPr lang="en-US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8">
            <a:extLst>
              <a:ext uri="{FF2B5EF4-FFF2-40B4-BE49-F238E27FC236}">
                <a16:creationId xmlns:a16="http://schemas.microsoft.com/office/drawing/2014/main" id="{876872EE-3C34-8729-9F4B-365A3A710103}"/>
              </a:ext>
            </a:extLst>
          </p:cNvPr>
          <p:cNvSpPr/>
          <p:nvPr/>
        </p:nvSpPr>
        <p:spPr>
          <a:xfrm>
            <a:off x="1110004" y="2303429"/>
            <a:ext cx="412658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Perform exploratory data analysis (EDA</a:t>
            </a:r>
            <a:r>
              <a:rPr lang="en-US" sz="16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50" name="Text 11">
            <a:extLst>
              <a:ext uri="{FF2B5EF4-FFF2-40B4-BE49-F238E27FC236}">
                <a16:creationId xmlns:a16="http://schemas.microsoft.com/office/drawing/2014/main" id="{14B9E15B-0E80-5E7F-FD4B-1492485C2CD3}"/>
              </a:ext>
            </a:extLst>
          </p:cNvPr>
          <p:cNvSpPr/>
          <p:nvPr/>
        </p:nvSpPr>
        <p:spPr>
          <a:xfrm>
            <a:off x="1330353" y="3101468"/>
            <a:ext cx="380371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Build SimpleRNN and LSTM models</a:t>
            </a:r>
            <a:endParaRPr lang="en-US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 14">
            <a:extLst>
              <a:ext uri="{FF2B5EF4-FFF2-40B4-BE49-F238E27FC236}">
                <a16:creationId xmlns:a16="http://schemas.microsoft.com/office/drawing/2014/main" id="{3978DBD7-351D-3E80-2F2F-A5174FBAF91B}"/>
              </a:ext>
            </a:extLst>
          </p:cNvPr>
          <p:cNvSpPr/>
          <p:nvPr/>
        </p:nvSpPr>
        <p:spPr>
          <a:xfrm>
            <a:off x="1100154" y="3890795"/>
            <a:ext cx="403391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Predict 1-day, 5-day &amp; 10-day closing prices</a:t>
            </a:r>
            <a:endParaRPr lang="en-US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 17">
            <a:extLst>
              <a:ext uri="{FF2B5EF4-FFF2-40B4-BE49-F238E27FC236}">
                <a16:creationId xmlns:a16="http://schemas.microsoft.com/office/drawing/2014/main" id="{DB519AD8-7B73-7863-DCDB-A08F5BC32556}"/>
              </a:ext>
            </a:extLst>
          </p:cNvPr>
          <p:cNvSpPr/>
          <p:nvPr/>
        </p:nvSpPr>
        <p:spPr>
          <a:xfrm>
            <a:off x="1086814" y="4699332"/>
            <a:ext cx="40605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Tune hyperparameters with GridSearchCV</a:t>
            </a:r>
            <a:endParaRPr lang="en-US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CF9FE930-BE5E-8349-9CAA-F2F0C2FD3A0D}"/>
              </a:ext>
            </a:extLst>
          </p:cNvPr>
          <p:cNvSpPr/>
          <p:nvPr/>
        </p:nvSpPr>
        <p:spPr>
          <a:xfrm>
            <a:off x="1086814" y="5650992"/>
            <a:ext cx="412658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Compare models using MSE / RMSE / MAE</a:t>
            </a:r>
            <a:endParaRPr lang="en-US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Shape 21">
            <a:extLst>
              <a:ext uri="{FF2B5EF4-FFF2-40B4-BE49-F238E27FC236}">
                <a16:creationId xmlns:a16="http://schemas.microsoft.com/office/drawing/2014/main" id="{9AE72F23-23A7-C4D7-BB94-8954DA1DD09E}"/>
              </a:ext>
            </a:extLst>
          </p:cNvPr>
          <p:cNvSpPr/>
          <p:nvPr/>
        </p:nvSpPr>
        <p:spPr>
          <a:xfrm>
            <a:off x="5918736" y="1972514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4F7F9"/>
          </a:solidFill>
          <a:ln w="1270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1" name="Text 22">
            <a:extLst>
              <a:ext uri="{FF2B5EF4-FFF2-40B4-BE49-F238E27FC236}">
                <a16:creationId xmlns:a16="http://schemas.microsoft.com/office/drawing/2014/main" id="{8987AD8A-5F31-2DAF-C5C7-6AFDE43C5A63}"/>
              </a:ext>
            </a:extLst>
          </p:cNvPr>
          <p:cNvSpPr/>
          <p:nvPr/>
        </p:nvSpPr>
        <p:spPr>
          <a:xfrm>
            <a:off x="5766692" y="1921974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62" name="Text 23">
            <a:extLst>
              <a:ext uri="{FF2B5EF4-FFF2-40B4-BE49-F238E27FC236}">
                <a16:creationId xmlns:a16="http://schemas.microsoft.com/office/drawing/2014/main" id="{8B023599-0013-64BF-2B49-F59669CA16CF}"/>
              </a:ext>
            </a:extLst>
          </p:cNvPr>
          <p:cNvSpPr/>
          <p:nvPr/>
        </p:nvSpPr>
        <p:spPr>
          <a:xfrm>
            <a:off x="6010176" y="2789947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Forecast horizons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(1 / 5 / 10 days)</a:t>
            </a:r>
            <a:endParaRPr lang="en-US" sz="1100" dirty="0"/>
          </a:p>
        </p:txBody>
      </p:sp>
      <p:sp>
        <p:nvSpPr>
          <p:cNvPr id="63" name="Shape 24">
            <a:extLst>
              <a:ext uri="{FF2B5EF4-FFF2-40B4-BE49-F238E27FC236}">
                <a16:creationId xmlns:a16="http://schemas.microsoft.com/office/drawing/2014/main" id="{A5C0112F-B199-729F-CDEA-2548DB27CA7C}"/>
              </a:ext>
            </a:extLst>
          </p:cNvPr>
          <p:cNvSpPr/>
          <p:nvPr/>
        </p:nvSpPr>
        <p:spPr>
          <a:xfrm>
            <a:off x="8928796" y="1955863"/>
            <a:ext cx="2194560" cy="1371600"/>
          </a:xfrm>
          <a:prstGeom prst="roundRect">
            <a:avLst>
              <a:gd name="adj" fmla="val 5333"/>
            </a:avLst>
          </a:prstGeom>
          <a:solidFill>
            <a:srgbClr val="F4F7F9"/>
          </a:solidFill>
          <a:ln w="1270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4" name="Text 25">
            <a:extLst>
              <a:ext uri="{FF2B5EF4-FFF2-40B4-BE49-F238E27FC236}">
                <a16:creationId xmlns:a16="http://schemas.microsoft.com/office/drawing/2014/main" id="{DEB1E3DE-FAC9-21A4-630C-0C15DAC59DC2}"/>
              </a:ext>
            </a:extLst>
          </p:cNvPr>
          <p:cNvSpPr/>
          <p:nvPr/>
        </p:nvSpPr>
        <p:spPr>
          <a:xfrm>
            <a:off x="8887436" y="187452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65" name="Text 26">
            <a:extLst>
              <a:ext uri="{FF2B5EF4-FFF2-40B4-BE49-F238E27FC236}">
                <a16:creationId xmlns:a16="http://schemas.microsoft.com/office/drawing/2014/main" id="{F2CE8034-0519-6131-5E68-95E356589FCC}"/>
              </a:ext>
            </a:extLst>
          </p:cNvPr>
          <p:cNvSpPr/>
          <p:nvPr/>
        </p:nvSpPr>
        <p:spPr>
          <a:xfrm>
            <a:off x="8978876" y="2825723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compared</a:t>
            </a:r>
            <a:endParaRPr lang="en-US" sz="1100" dirty="0"/>
          </a:p>
        </p:txBody>
      </p:sp>
      <p:sp>
        <p:nvSpPr>
          <p:cNvPr id="66" name="Shape 27">
            <a:extLst>
              <a:ext uri="{FF2B5EF4-FFF2-40B4-BE49-F238E27FC236}">
                <a16:creationId xmlns:a16="http://schemas.microsoft.com/office/drawing/2014/main" id="{1A1EEFE9-BBCB-29A7-3EEC-D4A32F693986}"/>
              </a:ext>
            </a:extLst>
          </p:cNvPr>
          <p:cNvSpPr/>
          <p:nvPr/>
        </p:nvSpPr>
        <p:spPr>
          <a:xfrm>
            <a:off x="5913120" y="3832559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4F7F9"/>
          </a:solidFill>
          <a:ln w="1270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67" name="Text 28">
            <a:extLst>
              <a:ext uri="{FF2B5EF4-FFF2-40B4-BE49-F238E27FC236}">
                <a16:creationId xmlns:a16="http://schemas.microsoft.com/office/drawing/2014/main" id="{A3D33C19-C243-9ACB-D8AB-DA3E205E0AA7}"/>
              </a:ext>
            </a:extLst>
          </p:cNvPr>
          <p:cNvSpPr/>
          <p:nvPr/>
        </p:nvSpPr>
        <p:spPr>
          <a:xfrm>
            <a:off x="5882640" y="3717447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2,416</a:t>
            </a:r>
            <a:endParaRPr lang="en-US" sz="3000" dirty="0"/>
          </a:p>
        </p:txBody>
      </p:sp>
      <p:sp>
        <p:nvSpPr>
          <p:cNvPr id="68" name="Text 29">
            <a:extLst>
              <a:ext uri="{FF2B5EF4-FFF2-40B4-BE49-F238E27FC236}">
                <a16:creationId xmlns:a16="http://schemas.microsoft.com/office/drawing/2014/main" id="{B2B38654-4888-C75B-6664-D84001B05167}"/>
              </a:ext>
            </a:extLst>
          </p:cNvPr>
          <p:cNvSpPr/>
          <p:nvPr/>
        </p:nvSpPr>
        <p:spPr>
          <a:xfrm>
            <a:off x="6065520" y="461182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Daily records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(2010–2020)</a:t>
            </a:r>
            <a:endParaRPr lang="en-US" sz="1100" dirty="0"/>
          </a:p>
        </p:txBody>
      </p:sp>
      <p:sp>
        <p:nvSpPr>
          <p:cNvPr id="69" name="Shape 30">
            <a:extLst>
              <a:ext uri="{FF2B5EF4-FFF2-40B4-BE49-F238E27FC236}">
                <a16:creationId xmlns:a16="http://schemas.microsoft.com/office/drawing/2014/main" id="{02CE0434-8864-B8C6-31CE-748A0F069FA9}"/>
              </a:ext>
            </a:extLst>
          </p:cNvPr>
          <p:cNvSpPr/>
          <p:nvPr/>
        </p:nvSpPr>
        <p:spPr>
          <a:xfrm>
            <a:off x="8961120" y="3832559"/>
            <a:ext cx="2194560" cy="1371600"/>
          </a:xfrm>
          <a:prstGeom prst="roundRect">
            <a:avLst>
              <a:gd name="adj" fmla="val 5333"/>
            </a:avLst>
          </a:prstGeom>
          <a:solidFill>
            <a:srgbClr val="F4F7F9"/>
          </a:solidFill>
          <a:ln w="1270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0" name="Text 31">
            <a:extLst>
              <a:ext uri="{FF2B5EF4-FFF2-40B4-BE49-F238E27FC236}">
                <a16:creationId xmlns:a16="http://schemas.microsoft.com/office/drawing/2014/main" id="{0A5EA2B9-597B-B138-805A-24038BECFD1C}"/>
              </a:ext>
            </a:extLst>
          </p:cNvPr>
          <p:cNvSpPr/>
          <p:nvPr/>
        </p:nvSpPr>
        <p:spPr>
          <a:xfrm>
            <a:off x="8887436" y="3649679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71" name="Text 32">
            <a:extLst>
              <a:ext uri="{FF2B5EF4-FFF2-40B4-BE49-F238E27FC236}">
                <a16:creationId xmlns:a16="http://schemas.microsoft.com/office/drawing/2014/main" id="{3E522E7E-9CD9-04E2-81FC-89FCEBB226EB}"/>
              </a:ext>
            </a:extLst>
          </p:cNvPr>
          <p:cNvSpPr/>
          <p:nvPr/>
        </p:nvSpPr>
        <p:spPr>
          <a:xfrm>
            <a:off x="9098889" y="46118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&amp; evaluated</a:t>
            </a:r>
            <a:endParaRPr lang="en-US" sz="1100" dirty="0"/>
          </a:p>
        </p:txBody>
      </p:sp>
      <p:sp>
        <p:nvSpPr>
          <p:cNvPr id="73" name="Text 34">
            <a:extLst>
              <a:ext uri="{FF2B5EF4-FFF2-40B4-BE49-F238E27FC236}">
                <a16:creationId xmlns:a16="http://schemas.microsoft.com/office/drawing/2014/main" id="{EAA0993D-841C-D01A-AFAE-BDAB0D53BB39}"/>
              </a:ext>
            </a:extLst>
          </p:cNvPr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4" name="Arrow: Down 73">
            <a:extLst>
              <a:ext uri="{FF2B5EF4-FFF2-40B4-BE49-F238E27FC236}">
                <a16:creationId xmlns:a16="http://schemas.microsoft.com/office/drawing/2014/main" id="{D630AF08-A472-224F-14A5-FFFF81B92BC6}"/>
              </a:ext>
            </a:extLst>
          </p:cNvPr>
          <p:cNvSpPr/>
          <p:nvPr/>
        </p:nvSpPr>
        <p:spPr>
          <a:xfrm>
            <a:off x="2686641" y="1987595"/>
            <a:ext cx="197964" cy="349383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5" name="Arrow: Down 74">
            <a:extLst>
              <a:ext uri="{FF2B5EF4-FFF2-40B4-BE49-F238E27FC236}">
                <a16:creationId xmlns:a16="http://schemas.microsoft.com/office/drawing/2014/main" id="{94E7E348-862B-FA50-31FA-90E3E5E77FEF}"/>
              </a:ext>
            </a:extLst>
          </p:cNvPr>
          <p:cNvSpPr/>
          <p:nvPr/>
        </p:nvSpPr>
        <p:spPr>
          <a:xfrm>
            <a:off x="2705493" y="2790547"/>
            <a:ext cx="197964" cy="349383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6" name="Arrow: Down 75">
            <a:extLst>
              <a:ext uri="{FF2B5EF4-FFF2-40B4-BE49-F238E27FC236}">
                <a16:creationId xmlns:a16="http://schemas.microsoft.com/office/drawing/2014/main" id="{116AA209-5332-3881-CA41-98C2C2D63FA6}"/>
              </a:ext>
            </a:extLst>
          </p:cNvPr>
          <p:cNvSpPr/>
          <p:nvPr/>
        </p:nvSpPr>
        <p:spPr>
          <a:xfrm>
            <a:off x="2705493" y="3556047"/>
            <a:ext cx="197964" cy="349383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7" name="Arrow: Down 76">
            <a:extLst>
              <a:ext uri="{FF2B5EF4-FFF2-40B4-BE49-F238E27FC236}">
                <a16:creationId xmlns:a16="http://schemas.microsoft.com/office/drawing/2014/main" id="{9AC8B7FB-1C53-79E8-437F-69E722165A80}"/>
              </a:ext>
            </a:extLst>
          </p:cNvPr>
          <p:cNvSpPr/>
          <p:nvPr/>
        </p:nvSpPr>
        <p:spPr>
          <a:xfrm>
            <a:off x="2686641" y="4444996"/>
            <a:ext cx="197964" cy="349383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8" name="Arrow: Down 77">
            <a:extLst>
              <a:ext uri="{FF2B5EF4-FFF2-40B4-BE49-F238E27FC236}">
                <a16:creationId xmlns:a16="http://schemas.microsoft.com/office/drawing/2014/main" id="{32F64A38-7186-509D-970B-5F897AD3839C}"/>
              </a:ext>
            </a:extLst>
          </p:cNvPr>
          <p:cNvSpPr/>
          <p:nvPr/>
        </p:nvSpPr>
        <p:spPr>
          <a:xfrm>
            <a:off x="2705493" y="5285967"/>
            <a:ext cx="197964" cy="349383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3753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68C8AB1F-DF9F-3436-BF1C-631944A765B4}"/>
              </a:ext>
            </a:extLst>
          </p:cNvPr>
          <p:cNvSpPr/>
          <p:nvPr/>
        </p:nvSpPr>
        <p:spPr>
          <a:xfrm>
            <a:off x="871452" y="445563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DATA SET &amp; END-TO END PIPELINE</a:t>
            </a:r>
            <a:endParaRPr lang="en-US" sz="30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03BC0290-0ED1-B743-47BD-3F8D8B1CFE20}"/>
              </a:ext>
            </a:extLst>
          </p:cNvPr>
          <p:cNvSpPr/>
          <p:nvPr/>
        </p:nvSpPr>
        <p:spPr>
          <a:xfrm>
            <a:off x="621516" y="1590225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Dataset : TSLA.csv</a:t>
            </a:r>
            <a:endParaRPr lang="en-US" sz="14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2DAEB957-7256-A004-8CC5-0E3CCC698F55}"/>
              </a:ext>
            </a:extLst>
          </p:cNvPr>
          <p:cNvSpPr/>
          <p:nvPr/>
        </p:nvSpPr>
        <p:spPr>
          <a:xfrm>
            <a:off x="6174972" y="2551592"/>
            <a:ext cx="1874520" cy="566928"/>
          </a:xfrm>
          <a:prstGeom prst="roundRect">
            <a:avLst>
              <a:gd name="adj" fmla="val 9677"/>
            </a:avLst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B5855276-2656-5E14-6133-E66D4C90A80B}"/>
              </a:ext>
            </a:extLst>
          </p:cNvPr>
          <p:cNvSpPr/>
          <p:nvPr/>
        </p:nvSpPr>
        <p:spPr>
          <a:xfrm>
            <a:off x="6205452" y="2541201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Clean &amp; Validate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374B1363-B788-E2CC-48E7-7178D75A2499}"/>
              </a:ext>
            </a:extLst>
          </p:cNvPr>
          <p:cNvSpPr/>
          <p:nvPr/>
        </p:nvSpPr>
        <p:spPr>
          <a:xfrm>
            <a:off x="8015964" y="2541201"/>
            <a:ext cx="3931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B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19">
            <a:extLst>
              <a:ext uri="{FF2B5EF4-FFF2-40B4-BE49-F238E27FC236}">
                <a16:creationId xmlns:a16="http://schemas.microsoft.com/office/drawing/2014/main" id="{CED95916-A024-3798-4472-88326C434D4B}"/>
              </a:ext>
            </a:extLst>
          </p:cNvPr>
          <p:cNvSpPr/>
          <p:nvPr/>
        </p:nvSpPr>
        <p:spPr>
          <a:xfrm>
            <a:off x="8198844" y="2541201"/>
            <a:ext cx="1874520" cy="566928"/>
          </a:xfrm>
          <a:prstGeom prst="roundRect">
            <a:avLst>
              <a:gd name="adj" fmla="val 9677"/>
            </a:avLst>
          </a:prstGeom>
          <a:solidFill>
            <a:schemeClr val="bg2">
              <a:lumMod val="9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CD0F43A3-F549-25D1-19B7-D870677301FB}"/>
              </a:ext>
            </a:extLst>
          </p:cNvPr>
          <p:cNvSpPr/>
          <p:nvPr/>
        </p:nvSpPr>
        <p:spPr>
          <a:xfrm>
            <a:off x="8244564" y="2541201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EDA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08B8F923-E537-A213-40DD-B67E8857C96B}"/>
              </a:ext>
            </a:extLst>
          </p:cNvPr>
          <p:cNvSpPr/>
          <p:nvPr/>
        </p:nvSpPr>
        <p:spPr>
          <a:xfrm>
            <a:off x="10055076" y="2541201"/>
            <a:ext cx="3931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B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2">
            <a:extLst>
              <a:ext uri="{FF2B5EF4-FFF2-40B4-BE49-F238E27FC236}">
                <a16:creationId xmlns:a16="http://schemas.microsoft.com/office/drawing/2014/main" id="{500D377A-A87F-C056-93C5-76732B194F6E}"/>
              </a:ext>
            </a:extLst>
          </p:cNvPr>
          <p:cNvSpPr/>
          <p:nvPr/>
        </p:nvSpPr>
        <p:spPr>
          <a:xfrm>
            <a:off x="10237956" y="2541201"/>
            <a:ext cx="1874520" cy="566928"/>
          </a:xfrm>
          <a:prstGeom prst="roundRect">
            <a:avLst>
              <a:gd name="adj" fmla="val 9677"/>
            </a:avLst>
          </a:prstGeom>
          <a:solidFill>
            <a:schemeClr val="bg2">
              <a:lumMod val="9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90DEAFBB-AC19-84CD-EC4E-2AC2E610AC54}"/>
              </a:ext>
            </a:extLst>
          </p:cNvPr>
          <p:cNvSpPr/>
          <p:nvPr/>
        </p:nvSpPr>
        <p:spPr>
          <a:xfrm>
            <a:off x="10119084" y="2577777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Feature Eng</a:t>
            </a:r>
            <a:r>
              <a:rPr lang="en-US" sz="10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4">
            <a:extLst>
              <a:ext uri="{FF2B5EF4-FFF2-40B4-BE49-F238E27FC236}">
                <a16:creationId xmlns:a16="http://schemas.microsoft.com/office/drawing/2014/main" id="{6F20F145-0C78-64C7-596A-74C1A02B2141}"/>
              </a:ext>
            </a:extLst>
          </p:cNvPr>
          <p:cNvSpPr/>
          <p:nvPr/>
        </p:nvSpPr>
        <p:spPr>
          <a:xfrm>
            <a:off x="6159732" y="3400737"/>
            <a:ext cx="1874520" cy="566928"/>
          </a:xfrm>
          <a:prstGeom prst="roundRect">
            <a:avLst>
              <a:gd name="adj" fmla="val 9677"/>
            </a:avLst>
          </a:prstGeom>
          <a:solidFill>
            <a:schemeClr val="bg2">
              <a:lumMod val="90000"/>
            </a:schemeClr>
          </a:solidFill>
          <a:ln/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894A66E2-962A-615A-226F-4542ECD07DD2}"/>
              </a:ext>
            </a:extLst>
          </p:cNvPr>
          <p:cNvSpPr/>
          <p:nvPr/>
        </p:nvSpPr>
        <p:spPr>
          <a:xfrm>
            <a:off x="6205452" y="3400737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Scale (0–1)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B5AC3368-234A-E636-8DA4-2BFCB7FC37AC}"/>
              </a:ext>
            </a:extLst>
          </p:cNvPr>
          <p:cNvSpPr/>
          <p:nvPr/>
        </p:nvSpPr>
        <p:spPr>
          <a:xfrm>
            <a:off x="8015964" y="3400737"/>
            <a:ext cx="3931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B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7">
            <a:extLst>
              <a:ext uri="{FF2B5EF4-FFF2-40B4-BE49-F238E27FC236}">
                <a16:creationId xmlns:a16="http://schemas.microsoft.com/office/drawing/2014/main" id="{30E67A58-EEAE-5AFF-967D-403BE0E35DF4}"/>
              </a:ext>
            </a:extLst>
          </p:cNvPr>
          <p:cNvSpPr/>
          <p:nvPr/>
        </p:nvSpPr>
        <p:spPr>
          <a:xfrm>
            <a:off x="8198844" y="3400737"/>
            <a:ext cx="1874520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74211947-9DFB-527E-6151-5CD218E57ECC}"/>
              </a:ext>
            </a:extLst>
          </p:cNvPr>
          <p:cNvSpPr/>
          <p:nvPr/>
        </p:nvSpPr>
        <p:spPr>
          <a:xfrm>
            <a:off x="8180556" y="3400737"/>
            <a:ext cx="1892808" cy="566928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Sequence (60-day window)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E07C4559-083B-DAA3-3AC5-17ACAAC6A568}"/>
              </a:ext>
            </a:extLst>
          </p:cNvPr>
          <p:cNvSpPr/>
          <p:nvPr/>
        </p:nvSpPr>
        <p:spPr>
          <a:xfrm>
            <a:off x="10055076" y="3400737"/>
            <a:ext cx="3931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B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0">
            <a:extLst>
              <a:ext uri="{FF2B5EF4-FFF2-40B4-BE49-F238E27FC236}">
                <a16:creationId xmlns:a16="http://schemas.microsoft.com/office/drawing/2014/main" id="{27D2F6FB-4AA0-48C0-E52D-61B7E359AE3A}"/>
              </a:ext>
            </a:extLst>
          </p:cNvPr>
          <p:cNvSpPr/>
          <p:nvPr/>
        </p:nvSpPr>
        <p:spPr>
          <a:xfrm>
            <a:off x="10237956" y="3400737"/>
            <a:ext cx="1874520" cy="566928"/>
          </a:xfrm>
          <a:prstGeom prst="roundRect">
            <a:avLst>
              <a:gd name="adj" fmla="val 9677"/>
            </a:avLst>
          </a:prstGeom>
          <a:solidFill>
            <a:schemeClr val="bg2">
              <a:lumMod val="9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1">
            <a:extLst>
              <a:ext uri="{FF2B5EF4-FFF2-40B4-BE49-F238E27FC236}">
                <a16:creationId xmlns:a16="http://schemas.microsoft.com/office/drawing/2014/main" id="{C4D47E36-8177-3C36-5E28-35F501B64A07}"/>
              </a:ext>
            </a:extLst>
          </p:cNvPr>
          <p:cNvSpPr/>
          <p:nvPr/>
        </p:nvSpPr>
        <p:spPr>
          <a:xfrm>
            <a:off x="10283676" y="3400737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Train / Test Split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2">
            <a:extLst>
              <a:ext uri="{FF2B5EF4-FFF2-40B4-BE49-F238E27FC236}">
                <a16:creationId xmlns:a16="http://schemas.microsoft.com/office/drawing/2014/main" id="{FF57B9CB-729A-A29E-350F-65487C680CBF}"/>
              </a:ext>
            </a:extLst>
          </p:cNvPr>
          <p:cNvSpPr/>
          <p:nvPr/>
        </p:nvSpPr>
        <p:spPr>
          <a:xfrm>
            <a:off x="6159732" y="4260273"/>
            <a:ext cx="1874520" cy="566928"/>
          </a:xfrm>
          <a:prstGeom prst="roundRect">
            <a:avLst>
              <a:gd name="adj" fmla="val 967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3">
            <a:extLst>
              <a:ext uri="{FF2B5EF4-FFF2-40B4-BE49-F238E27FC236}">
                <a16:creationId xmlns:a16="http://schemas.microsoft.com/office/drawing/2014/main" id="{A4F950BE-CCE2-CC18-8CE6-247DCEC89AC1}"/>
              </a:ext>
            </a:extLst>
          </p:cNvPr>
          <p:cNvSpPr/>
          <p:nvPr/>
        </p:nvSpPr>
        <p:spPr>
          <a:xfrm>
            <a:off x="6141444" y="4239491"/>
            <a:ext cx="1892808" cy="640080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Train Models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4">
            <a:extLst>
              <a:ext uri="{FF2B5EF4-FFF2-40B4-BE49-F238E27FC236}">
                <a16:creationId xmlns:a16="http://schemas.microsoft.com/office/drawing/2014/main" id="{09480674-2238-F8ED-53A5-DE3A24497913}"/>
              </a:ext>
            </a:extLst>
          </p:cNvPr>
          <p:cNvSpPr/>
          <p:nvPr/>
        </p:nvSpPr>
        <p:spPr>
          <a:xfrm>
            <a:off x="8015964" y="4260273"/>
            <a:ext cx="3931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B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5">
            <a:extLst>
              <a:ext uri="{FF2B5EF4-FFF2-40B4-BE49-F238E27FC236}">
                <a16:creationId xmlns:a16="http://schemas.microsoft.com/office/drawing/2014/main" id="{DFEC5D7F-0D05-6977-0FEA-F6F782CD96AD}"/>
              </a:ext>
            </a:extLst>
          </p:cNvPr>
          <p:cNvSpPr/>
          <p:nvPr/>
        </p:nvSpPr>
        <p:spPr>
          <a:xfrm>
            <a:off x="8212560" y="4260273"/>
            <a:ext cx="1874520" cy="566928"/>
          </a:xfrm>
          <a:prstGeom prst="roundRect">
            <a:avLst>
              <a:gd name="adj" fmla="val 9677"/>
            </a:avLst>
          </a:prstGeom>
          <a:solidFill>
            <a:schemeClr val="bg2">
              <a:lumMod val="9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6">
            <a:extLst>
              <a:ext uri="{FF2B5EF4-FFF2-40B4-BE49-F238E27FC236}">
                <a16:creationId xmlns:a16="http://schemas.microsoft.com/office/drawing/2014/main" id="{95505D09-CFA0-1755-254B-B1B0C7E4FE16}"/>
              </a:ext>
            </a:extLst>
          </p:cNvPr>
          <p:cNvSpPr/>
          <p:nvPr/>
        </p:nvSpPr>
        <p:spPr>
          <a:xfrm>
            <a:off x="8244564" y="4260273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Tune (GridSearchCV)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7">
            <a:extLst>
              <a:ext uri="{FF2B5EF4-FFF2-40B4-BE49-F238E27FC236}">
                <a16:creationId xmlns:a16="http://schemas.microsoft.com/office/drawing/2014/main" id="{76CD6CC1-4E18-3AD4-4E22-A53315363EB8}"/>
              </a:ext>
            </a:extLst>
          </p:cNvPr>
          <p:cNvSpPr/>
          <p:nvPr/>
        </p:nvSpPr>
        <p:spPr>
          <a:xfrm>
            <a:off x="10055076" y="4260273"/>
            <a:ext cx="3931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B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38">
            <a:extLst>
              <a:ext uri="{FF2B5EF4-FFF2-40B4-BE49-F238E27FC236}">
                <a16:creationId xmlns:a16="http://schemas.microsoft.com/office/drawing/2014/main" id="{D4729334-AA21-CD9C-3A0D-7F7497C1D42D}"/>
              </a:ext>
            </a:extLst>
          </p:cNvPr>
          <p:cNvSpPr/>
          <p:nvPr/>
        </p:nvSpPr>
        <p:spPr>
          <a:xfrm>
            <a:off x="10237956" y="4260273"/>
            <a:ext cx="1874520" cy="566928"/>
          </a:xfrm>
          <a:prstGeom prst="roundRect">
            <a:avLst>
              <a:gd name="adj" fmla="val 9677"/>
            </a:avLst>
          </a:prstGeom>
          <a:solidFill>
            <a:schemeClr val="bg2">
              <a:lumMod val="9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39">
            <a:extLst>
              <a:ext uri="{FF2B5EF4-FFF2-40B4-BE49-F238E27FC236}">
                <a16:creationId xmlns:a16="http://schemas.microsoft.com/office/drawing/2014/main" id="{ADBD0686-F8B6-09EF-AB9D-FF451AA25392}"/>
              </a:ext>
            </a:extLst>
          </p:cNvPr>
          <p:cNvSpPr/>
          <p:nvPr/>
        </p:nvSpPr>
        <p:spPr>
          <a:xfrm>
            <a:off x="10283676" y="4260273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Evaluate &amp; Compare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41">
            <a:extLst>
              <a:ext uri="{FF2B5EF4-FFF2-40B4-BE49-F238E27FC236}">
                <a16:creationId xmlns:a16="http://schemas.microsoft.com/office/drawing/2014/main" id="{2C0392BD-D1AC-6F54-9876-C421D441E3DA}"/>
              </a:ext>
            </a:extLst>
          </p:cNvPr>
          <p:cNvSpPr/>
          <p:nvPr/>
        </p:nvSpPr>
        <p:spPr>
          <a:xfrm>
            <a:off x="11493427" y="7597833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DA3B9F0A-4E51-72CD-B13A-50C2E5F7B6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3836130"/>
              </p:ext>
            </p:extLst>
          </p:nvPr>
        </p:nvGraphicFramePr>
        <p:xfrm>
          <a:off x="686633" y="2132214"/>
          <a:ext cx="5203213" cy="35661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610452">
                  <a:extLst>
                    <a:ext uri="{9D8B030D-6E8A-4147-A177-3AD203B41FA5}">
                      <a16:colId xmlns:a16="http://schemas.microsoft.com/office/drawing/2014/main" val="231800107"/>
                    </a:ext>
                  </a:extLst>
                </a:gridCol>
                <a:gridCol w="3592761">
                  <a:extLst>
                    <a:ext uri="{9D8B030D-6E8A-4147-A177-3AD203B41FA5}">
                      <a16:colId xmlns:a16="http://schemas.microsoft.com/office/drawing/2014/main" val="77135636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Records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2,416 daily rows</a:t>
                      </a:r>
                    </a:p>
                    <a:p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483321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 range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2010-06-29 → 2020-02-03</a:t>
                      </a:r>
                    </a:p>
                    <a:p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0250937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Columns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Date, Open,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High, Low,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Close, Adj Close, Volume</a:t>
                      </a:r>
                    </a:p>
                    <a:p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8173485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Missing values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  <a:p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1701561"/>
                  </a:ext>
                </a:extLst>
              </a:tr>
              <a:tr h="4641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Target variable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Adj Close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3994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2691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B9574F8-941E-E40B-F614-54636483D8F5}"/>
              </a:ext>
            </a:extLst>
          </p:cNvPr>
          <p:cNvSpPr txBox="1"/>
          <p:nvPr/>
        </p:nvSpPr>
        <p:spPr>
          <a:xfrm>
            <a:off x="1826722" y="484507"/>
            <a:ext cx="91543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DATA CLEANING – TIME-SERIES –SAFE STRATEGY</a:t>
            </a:r>
            <a:endParaRPr lang="en-US" sz="28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A066D8CC-7430-E250-B86D-C9295038A03A}"/>
              </a:ext>
            </a:extLst>
          </p:cNvPr>
          <p:cNvSpPr/>
          <p:nvPr/>
        </p:nvSpPr>
        <p:spPr>
          <a:xfrm>
            <a:off x="2793076" y="1254615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Approach</a:t>
            </a:r>
            <a:endParaRPr lang="en-US" sz="1500" dirty="0">
              <a:solidFill>
                <a:schemeClr val="accent1"/>
              </a:solidFill>
            </a:endParaRPr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D9C611F3-69FC-15EF-E436-DF608BE6AD28}"/>
              </a:ext>
            </a:extLst>
          </p:cNvPr>
          <p:cNvSpPr/>
          <p:nvPr/>
        </p:nvSpPr>
        <p:spPr>
          <a:xfrm>
            <a:off x="3291840" y="1728216"/>
            <a:ext cx="5303520" cy="566928"/>
          </a:xfrm>
          <a:prstGeom prst="roundRect">
            <a:avLst>
              <a:gd name="adj" fmla="val 9677"/>
            </a:avLst>
          </a:prstGeom>
          <a:solidFill>
            <a:schemeClr val="bg2">
              <a:lumMod val="90000"/>
            </a:schemeClr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5362A395-FA30-3A66-FD37-67DCA5EE719C}"/>
              </a:ext>
            </a:extLst>
          </p:cNvPr>
          <p:cNvSpPr/>
          <p:nvPr/>
        </p:nvSpPr>
        <p:spPr>
          <a:xfrm>
            <a:off x="4145973" y="1737360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Forward-fill (ffill): carries last known price forward</a:t>
            </a:r>
            <a:endParaRPr lang="en-US" sz="1150" dirty="0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17FA4F12-FA12-60CC-CF4B-F297447676F6}"/>
              </a:ext>
            </a:extLst>
          </p:cNvPr>
          <p:cNvSpPr/>
          <p:nvPr/>
        </p:nvSpPr>
        <p:spPr>
          <a:xfrm>
            <a:off x="3291840" y="2487168"/>
            <a:ext cx="5303520" cy="566928"/>
          </a:xfrm>
          <a:prstGeom prst="roundRect">
            <a:avLst>
              <a:gd name="adj" fmla="val 9677"/>
            </a:avLst>
          </a:prstGeom>
          <a:solidFill>
            <a:schemeClr val="bg2">
              <a:lumMod val="90000"/>
            </a:schemeClr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916427F9-B9D0-B5F5-F032-FD15DA69A2E8}"/>
              </a:ext>
            </a:extLst>
          </p:cNvPr>
          <p:cNvSpPr/>
          <p:nvPr/>
        </p:nvSpPr>
        <p:spPr>
          <a:xfrm>
            <a:off x="4405745" y="2412129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interpolation for any residual gaps</a:t>
            </a:r>
            <a:endParaRPr lang="en-US" sz="1150" dirty="0"/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7072F389-C0FA-AF73-A856-59C7D70BACE4}"/>
              </a:ext>
            </a:extLst>
          </p:cNvPr>
          <p:cNvSpPr/>
          <p:nvPr/>
        </p:nvSpPr>
        <p:spPr>
          <a:xfrm>
            <a:off x="3291840" y="3294525"/>
            <a:ext cx="5303520" cy="566928"/>
          </a:xfrm>
          <a:prstGeom prst="roundRect">
            <a:avLst>
              <a:gd name="adj" fmla="val 9677"/>
            </a:avLst>
          </a:prstGeom>
          <a:solidFill>
            <a:schemeClr val="bg2">
              <a:lumMod val="90000"/>
            </a:schemeClr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4122E9FB-37A8-9E52-2BD3-1B5CC534FFF2}"/>
              </a:ext>
            </a:extLst>
          </p:cNvPr>
          <p:cNvSpPr/>
          <p:nvPr/>
        </p:nvSpPr>
        <p:spPr>
          <a:xfrm>
            <a:off x="4301837" y="3171081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chronological order &amp; trend</a:t>
            </a:r>
            <a:endParaRPr lang="en-US" sz="1150" dirty="0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5CD6D131-156B-5C31-F11A-05D9E21707BA}"/>
              </a:ext>
            </a:extLst>
          </p:cNvPr>
          <p:cNvSpPr/>
          <p:nvPr/>
        </p:nvSpPr>
        <p:spPr>
          <a:xfrm>
            <a:off x="455122" y="409651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</a:t>
            </a:r>
            <a:endParaRPr lang="en-US" sz="1500" dirty="0"/>
          </a:p>
        </p:txBody>
      </p:sp>
      <p:sp>
        <p:nvSpPr>
          <p:cNvPr id="21" name="Shape 13">
            <a:extLst>
              <a:ext uri="{FF2B5EF4-FFF2-40B4-BE49-F238E27FC236}">
                <a16:creationId xmlns:a16="http://schemas.microsoft.com/office/drawing/2014/main" id="{54B8DC68-D952-86C9-DD65-F07A720C49A4}"/>
              </a:ext>
            </a:extLst>
          </p:cNvPr>
          <p:cNvSpPr/>
          <p:nvPr/>
        </p:nvSpPr>
        <p:spPr>
          <a:xfrm>
            <a:off x="457200" y="452628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F4F7F9"/>
          </a:solidFill>
          <a:ln w="12700">
            <a:solidFill>
              <a:srgbClr val="CFE3EA"/>
            </a:solidFill>
            <a:prstDash val="solid"/>
          </a:ln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1AAB8804-312B-5AB7-1BDE-FA53CF3D926F}"/>
              </a:ext>
            </a:extLst>
          </p:cNvPr>
          <p:cNvSpPr/>
          <p:nvPr/>
        </p:nvSpPr>
        <p:spPr>
          <a:xfrm>
            <a:off x="349134" y="4553712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→ 0</a:t>
            </a:r>
            <a:endParaRPr lang="en-US" sz="3000" dirty="0"/>
          </a:p>
        </p:txBody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883A8461-C293-CFCD-0EFA-A9D317F85D5C}"/>
              </a:ext>
            </a:extLst>
          </p:cNvPr>
          <p:cNvSpPr/>
          <p:nvPr/>
        </p:nvSpPr>
        <p:spPr>
          <a:xfrm>
            <a:off x="579120" y="5237625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NaNs fully resolved by ffill + interpolation (demo)</a:t>
            </a:r>
            <a:endParaRPr lang="en-US" sz="1100" dirty="0"/>
          </a:p>
        </p:txBody>
      </p:sp>
      <p:sp>
        <p:nvSpPr>
          <p:cNvPr id="24" name="Shape 16">
            <a:extLst>
              <a:ext uri="{FF2B5EF4-FFF2-40B4-BE49-F238E27FC236}">
                <a16:creationId xmlns:a16="http://schemas.microsoft.com/office/drawing/2014/main" id="{672B3158-E436-7507-F767-895BDB9E6F4F}"/>
              </a:ext>
            </a:extLst>
          </p:cNvPr>
          <p:cNvSpPr/>
          <p:nvPr/>
        </p:nvSpPr>
        <p:spPr>
          <a:xfrm>
            <a:off x="4023360" y="4567428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F4F7F9"/>
          </a:solidFill>
          <a:ln w="12700">
            <a:solidFill>
              <a:srgbClr val="CFE3EA"/>
            </a:solidFill>
            <a:prstDash val="solid"/>
          </a:ln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17">
            <a:extLst>
              <a:ext uri="{FF2B5EF4-FFF2-40B4-BE49-F238E27FC236}">
                <a16:creationId xmlns:a16="http://schemas.microsoft.com/office/drawing/2014/main" id="{94399E28-CF88-93C6-5EE4-15B4544114A0}"/>
              </a:ext>
            </a:extLst>
          </p:cNvPr>
          <p:cNvSpPr/>
          <p:nvPr/>
        </p:nvSpPr>
        <p:spPr>
          <a:xfrm>
            <a:off x="4023360" y="4597545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26" name="Text 18">
            <a:extLst>
              <a:ext uri="{FF2B5EF4-FFF2-40B4-BE49-F238E27FC236}">
                <a16:creationId xmlns:a16="http://schemas.microsoft.com/office/drawing/2014/main" id="{18D19EEE-3B35-EEDD-0B3E-CAFEC6CCACA7}"/>
              </a:ext>
            </a:extLst>
          </p:cNvPr>
          <p:cNvSpPr/>
          <p:nvPr/>
        </p:nvSpPr>
        <p:spPr>
          <a:xfrm>
            <a:off x="4114800" y="518464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/ duplicates in the real dataset</a:t>
            </a:r>
            <a:endParaRPr lang="en-US" sz="1100" dirty="0"/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64A70BDA-3EE3-B179-9D25-E7A4806161A5}"/>
              </a:ext>
            </a:extLst>
          </p:cNvPr>
          <p:cNvSpPr/>
          <p:nvPr/>
        </p:nvSpPr>
        <p:spPr>
          <a:xfrm>
            <a:off x="7589520" y="4773168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converted to datetime, sorted chronologically, and set as the index.</a:t>
            </a:r>
            <a:endParaRPr lang="en-US" sz="12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1001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F6833-A822-97D3-D5A1-3E18231B9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5406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 – FEATURE DISTRIBUTION </a:t>
            </a:r>
            <a:endParaRPr lang="en-IN" sz="32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46AE4B6-2A09-30B6-5B05-2330FD4A240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030" y="1274677"/>
            <a:ext cx="6168715" cy="4100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FF3FF5-C541-5FA4-FAAD-73FAD177E429}"/>
              </a:ext>
            </a:extLst>
          </p:cNvPr>
          <p:cNvSpPr txBox="1"/>
          <p:nvPr/>
        </p:nvSpPr>
        <p:spPr>
          <a:xfrm>
            <a:off x="2177935" y="5854463"/>
            <a:ext cx="71842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i="1" dirty="0">
                <a:solidFill>
                  <a:schemeClr val="accent1"/>
                </a:solidFill>
              </a:rPr>
              <a:t>Histograms showing the distribution of Open, High, Low, Close, Adj Close, and Volume features.</a:t>
            </a:r>
            <a:endParaRPr kumimoji="0" lang="en-US" altLang="en-US" sz="1600" b="0" i="1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7B14F2-FE0A-E669-D50F-CEDA1513A13D}"/>
              </a:ext>
            </a:extLst>
          </p:cNvPr>
          <p:cNvSpPr txBox="1"/>
          <p:nvPr/>
        </p:nvSpPr>
        <p:spPr>
          <a:xfrm>
            <a:off x="6974647" y="1709025"/>
            <a:ext cx="4775123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</a:t>
            </a:r>
          </a:p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Open, High, Low, Close, and Adj Close follow similar distributions.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price values are concentrated in the lower to middle ranges.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Trading Volume is positively skewed with a few high-volume outliers.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features contain fewer extreme values than Volume.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distributions were normalized using MinMaxScaler before model training.</a:t>
            </a:r>
          </a:p>
        </p:txBody>
      </p:sp>
    </p:spTree>
    <p:extLst>
      <p:ext uri="{BB962C8B-B14F-4D97-AF65-F5344CB8AC3E}">
        <p14:creationId xmlns:p14="http://schemas.microsoft.com/office/powerpoint/2010/main" val="2167344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4A561-CC7C-D904-1BA9-B728C94A6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6722"/>
          </a:xfrm>
        </p:spPr>
        <p:txBody>
          <a:bodyPr>
            <a:noAutofit/>
          </a:bodyPr>
          <a:lstStyle/>
          <a:p>
            <a: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BIVARIATE ANALYSIS- PRICE TREND &amp; TRADING VOLUME</a:t>
            </a:r>
            <a:endParaRPr lang="en-IN" sz="2800" dirty="0"/>
          </a:p>
        </p:txBody>
      </p:sp>
      <p:pic>
        <p:nvPicPr>
          <p:cNvPr id="16" name="Image 0" descr="cell15_img1.png">
            <a:extLst>
              <a:ext uri="{FF2B5EF4-FFF2-40B4-BE49-F238E27FC236}">
                <a16:creationId xmlns:a16="http://schemas.microsoft.com/office/drawing/2014/main" id="{743772DF-F9AC-E100-3F41-7622E06825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48640" y="1425556"/>
            <a:ext cx="5160819" cy="2360968"/>
          </a:xfrm>
          <a:prstGeom prst="rect">
            <a:avLst/>
          </a:prstGeom>
        </p:spPr>
      </p:pic>
      <p:pic>
        <p:nvPicPr>
          <p:cNvPr id="17" name="Image 1" descr="cell16_img2.png">
            <a:extLst>
              <a:ext uri="{FF2B5EF4-FFF2-40B4-BE49-F238E27FC236}">
                <a16:creationId xmlns:a16="http://schemas.microsoft.com/office/drawing/2014/main" id="{9F2C9B81-42A3-D5EA-5F42-C4777DFA24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110644"/>
            <a:ext cx="5160819" cy="236096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E833F80-2F93-9C0B-3AB4-8FD91DD78785}"/>
              </a:ext>
            </a:extLst>
          </p:cNvPr>
          <p:cNvSpPr txBox="1"/>
          <p:nvPr/>
        </p:nvSpPr>
        <p:spPr>
          <a:xfrm>
            <a:off x="5816831" y="1997839"/>
            <a:ext cx="609738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</a:t>
            </a:r>
          </a:p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Closing price remained relatively stable from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2010–2013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price showed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upward trend after 2013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a sharp rise in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Trading volume increased during periods of major price movements.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trading volume indicates increased investor activity and market volatility.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and trading volume generally move together during h</a:t>
            </a:r>
            <a:r>
              <a:rPr lang="en-IN" dirty="0" err="1"/>
              <a:t>igh</a:t>
            </a:r>
            <a:r>
              <a:rPr lang="en-IN" dirty="0"/>
              <a:t>-volatility periods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56307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10931-CB22-295A-ED30-04134CEFD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ANALYSIS – CORRELATION HEAT MAP</a:t>
            </a:r>
            <a:endParaRPr lang="en-IN" sz="2800" dirty="0"/>
          </a:p>
        </p:txBody>
      </p:sp>
      <p:pic>
        <p:nvPicPr>
          <p:cNvPr id="4" name="Image 2" descr="cell20_img6.png">
            <a:extLst>
              <a:ext uri="{FF2B5EF4-FFF2-40B4-BE49-F238E27FC236}">
                <a16:creationId xmlns:a16="http://schemas.microsoft.com/office/drawing/2014/main" id="{A24BCEC5-EB2C-5EDE-D5AC-8A5F6A2B07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467" y="1983614"/>
            <a:ext cx="5119712" cy="3569336"/>
          </a:xfrm>
          <a:prstGeom prst="rect">
            <a:avLst/>
          </a:prstGeom>
        </p:spPr>
      </p:pic>
      <p:sp>
        <p:nvSpPr>
          <p:cNvPr id="14" name="Rectangle 1">
            <a:extLst>
              <a:ext uri="{FF2B5EF4-FFF2-40B4-BE49-F238E27FC236}">
                <a16:creationId xmlns:a16="http://schemas.microsoft.com/office/drawing/2014/main" id="{13A8875E-60E7-3D56-1E80-BD79884002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0467" y="2128892"/>
            <a:ext cx="5782733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Open, High, Low, Close, and Adjusted Close are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highly positively correlated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(≈ 1.0).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price features move together and show very similar behavior.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Trading Volume has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moderate correlation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(≈ 0.5) with price-related features.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Volume changes do not always result in proportional price movements.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Correlation analysis helps identify relationships between multiple stock variables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600297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74EFB-B245-19B6-5716-EFFC984D4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56846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&amp; SCALING </a:t>
            </a: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E12BDFED-2DCC-9A04-62C8-B3196B1A8A9F}"/>
              </a:ext>
            </a:extLst>
          </p:cNvPr>
          <p:cNvSpPr/>
          <p:nvPr/>
        </p:nvSpPr>
        <p:spPr>
          <a:xfrm>
            <a:off x="777240" y="1645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Selection</a:t>
            </a:r>
            <a:endParaRPr lang="en-US" sz="15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0F0D5B34-AAAD-1A8F-C910-A1A682D67EA2}"/>
              </a:ext>
            </a:extLst>
          </p:cNvPr>
          <p:cNvSpPr/>
          <p:nvPr/>
        </p:nvSpPr>
        <p:spPr>
          <a:xfrm>
            <a:off x="777240" y="2926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Engineered Features (for EDA)</a:t>
            </a:r>
            <a:endParaRPr lang="en-US" sz="1500" dirty="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BB14B0EC-816D-C229-2090-E66F0DF3CC7F}"/>
              </a:ext>
            </a:extLst>
          </p:cNvPr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0" name="Rectangle 2">
            <a:extLst>
              <a:ext uri="{FF2B5EF4-FFF2-40B4-BE49-F238E27FC236}">
                <a16:creationId xmlns:a16="http://schemas.microsoft.com/office/drawing/2014/main" id="{AB5E23EB-052D-69F6-66DD-8B567205A0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884208"/>
            <a:ext cx="3744423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Adj Close selected as prediction target.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Adjusted for stock splits.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5D0EAA2-3113-F70D-C4D0-1CAF5023B012}"/>
              </a:ext>
            </a:extLst>
          </p:cNvPr>
          <p:cNvSpPr txBox="1"/>
          <p:nvPr/>
        </p:nvSpPr>
        <p:spPr>
          <a:xfrm>
            <a:off x="777240" y="3508773"/>
            <a:ext cx="609738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MA7 – Short-term trend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MA30 – Medium-term trend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MA100 – Long-term trend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Daily Return (%) – Volatility indicator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3E21568-3DAD-ED45-623E-29123A7BC265}"/>
              </a:ext>
            </a:extLst>
          </p:cNvPr>
          <p:cNvSpPr txBox="1"/>
          <p:nvPr/>
        </p:nvSpPr>
        <p:spPr>
          <a:xfrm>
            <a:off x="6416040" y="3900354"/>
            <a:ext cx="609738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1,932 records (80%)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484 records (20%)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Chronological split (No shuffling)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DBBEFD8-FEEA-FAD9-36AE-FF21DFAECF67}"/>
              </a:ext>
            </a:extLst>
          </p:cNvPr>
          <p:cNvSpPr txBox="1"/>
          <p:nvPr/>
        </p:nvSpPr>
        <p:spPr>
          <a:xfrm>
            <a:off x="6385255" y="1966511"/>
            <a:ext cx="6463144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14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 values between 0 and 1.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Scaler fitted only on training data.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scaler applied to test data.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data leakage.</a:t>
            </a:r>
          </a:p>
        </p:txBody>
      </p:sp>
      <p:sp>
        <p:nvSpPr>
          <p:cNvPr id="37" name="Text 4">
            <a:extLst>
              <a:ext uri="{FF2B5EF4-FFF2-40B4-BE49-F238E27FC236}">
                <a16:creationId xmlns:a16="http://schemas.microsoft.com/office/drawing/2014/main" id="{FC1E1D3A-33D6-4876-86B8-92FB87229B47}"/>
              </a:ext>
            </a:extLst>
          </p:cNvPr>
          <p:cNvSpPr/>
          <p:nvPr/>
        </p:nvSpPr>
        <p:spPr>
          <a:xfrm>
            <a:off x="6383868" y="1593455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MinMaxScaler (0-1)</a:t>
            </a:r>
            <a:endParaRPr lang="en-US" sz="1500" dirty="0"/>
          </a:p>
        </p:txBody>
      </p:sp>
      <p:sp>
        <p:nvSpPr>
          <p:cNvPr id="38" name="Text 4">
            <a:extLst>
              <a:ext uri="{FF2B5EF4-FFF2-40B4-BE49-F238E27FC236}">
                <a16:creationId xmlns:a16="http://schemas.microsoft.com/office/drawing/2014/main" id="{82551697-EEE4-CDA1-8666-0C564BE55952}"/>
              </a:ext>
            </a:extLst>
          </p:cNvPr>
          <p:cNvSpPr/>
          <p:nvPr/>
        </p:nvSpPr>
        <p:spPr>
          <a:xfrm>
            <a:off x="6416040" y="3364319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Train/test split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644834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06360-19BA-567F-9C5D-7AE684EB2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0468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SEQUENCE CREATION –SLIDING 60-DAY WINDOW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D83E1-971F-39D9-011E-C91E6DC65C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5056" y="4006733"/>
            <a:ext cx="5130338" cy="56844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input sequence contains the previous 60 days of scaled closing prices to predict the future closing price for 1-day, 5-day, and 10-day horizons.</a:t>
            </a:r>
            <a:endParaRPr lang="en-IN" sz="1600" i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0">
            <a:extLst>
              <a:ext uri="{FF2B5EF4-FFF2-40B4-BE49-F238E27FC236}">
                <a16:creationId xmlns:a16="http://schemas.microsoft.com/office/drawing/2014/main" id="{6D71A141-E269-F8D9-D93B-2FB86E3A32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936253"/>
              </p:ext>
            </p:extLst>
          </p:nvPr>
        </p:nvGraphicFramePr>
        <p:xfrm>
          <a:off x="3125585" y="1945178"/>
          <a:ext cx="5669280" cy="1645920"/>
        </p:xfrm>
        <a:graphic>
          <a:graphicData uri="http://schemas.openxmlformats.org/drawingml/2006/table">
            <a:tbl>
              <a:tblPr/>
              <a:tblGrid>
                <a:gridCol w="1889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X_train shape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X_test shape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1-day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(1872, 60, 1)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(484, 60, 1)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5-day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(1872, 60, 1)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(480, 60, 1)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10-day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(1872, 60, 1)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(475, 60, 1)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0006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5C5CE-261D-FE75-1D22-7273E7B9C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3842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ARCHITECTURE – SIMPLERNN vs LSTM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21CC036-7156-6837-6807-BB4B639F91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8962609"/>
              </p:ext>
            </p:extLst>
          </p:nvPr>
        </p:nvGraphicFramePr>
        <p:xfrm>
          <a:off x="838200" y="1526367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98143056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8508509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SimpleRNN</a:t>
                      </a:r>
                      <a:endParaRPr lang="en-US" sz="1800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LSTM</a:t>
                      </a:r>
                      <a:endParaRPr lang="en-US" sz="1800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87123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SimpleRNN(64)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return_sequences=True</a:t>
                      </a:r>
                      <a:endParaRPr lang="en-US" sz="1800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LSTM(64)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return_sequences=True</a:t>
                      </a:r>
                      <a:endParaRPr lang="en-US" sz="1800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9170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Dropout(0.2)</a:t>
                      </a:r>
                      <a:endParaRPr lang="en-US" sz="1800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Dropout(0.2)</a:t>
                      </a:r>
                      <a:endParaRPr lang="en-US" sz="1800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6770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SimpleRNN(32)</a:t>
                      </a:r>
                      <a:endParaRPr lang="en-US" sz="1800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LSTM(32)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6365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Dropout(0.2)</a:t>
                      </a:r>
                      <a:endParaRPr lang="en-US" sz="1800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Dropout(0.2)</a:t>
                      </a:r>
                      <a:endParaRPr lang="en-US" sz="1800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598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Dense(1)</a:t>
                      </a:r>
                      <a:endParaRPr lang="en-US" sz="1800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Dense(1)</a:t>
                      </a:r>
                      <a:endParaRPr lang="en-US" sz="1800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896264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CCC572E-7967-D0DA-7DFE-CE48B0C23890}"/>
              </a:ext>
            </a:extLst>
          </p:cNvPr>
          <p:cNvSpPr txBox="1"/>
          <p:nvPr/>
        </p:nvSpPr>
        <p:spPr>
          <a:xfrm>
            <a:off x="696192" y="5796341"/>
            <a:ext cx="6097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Total trainable parameters: 7,361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28">
            <a:extLst>
              <a:ext uri="{FF2B5EF4-FFF2-40B4-BE49-F238E27FC236}">
                <a16:creationId xmlns:a16="http://schemas.microsoft.com/office/drawing/2014/main" id="{2179C71E-1211-43B5-9596-B0175BC8D473}"/>
              </a:ext>
            </a:extLst>
          </p:cNvPr>
          <p:cNvSpPr/>
          <p:nvPr/>
        </p:nvSpPr>
        <p:spPr>
          <a:xfrm>
            <a:off x="6096000" y="5799913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Total trainable parameters: 29,345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52385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F59B0-9A9F-8450-39FA-77DDDB746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5777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APPROACH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44D92-494D-F04C-DD0C-CD9F7BEC2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1427"/>
            <a:ext cx="4457007" cy="2593975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Configuration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Optimizer: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Adam 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Function: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Mean Squared Error (MSE) 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Size: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32 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Epochs: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50 </a:t>
            </a:r>
          </a:p>
          <a:p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EarlyStopping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Patience: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 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Split: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10% </a:t>
            </a:r>
          </a:p>
          <a:p>
            <a:pPr marL="0" indent="0">
              <a:buNone/>
            </a:pPr>
            <a:endParaRPr lang="en-IN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845E53-65CF-3890-E992-9A9A0F2EE4ED}"/>
              </a:ext>
            </a:extLst>
          </p:cNvPr>
          <p:cNvSpPr txBox="1"/>
          <p:nvPr/>
        </p:nvSpPr>
        <p:spPr>
          <a:xfrm>
            <a:off x="5829300" y="1261919"/>
            <a:ext cx="609600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Chronological Train/Test Split</a:t>
            </a:r>
          </a:p>
          <a:p>
            <a:endParaRPr lang="en-IN" sz="24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split in chronological order (80% Train / 20% Test)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random shuffling to preserve temporal sequence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data created only from the training 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set used only for final model evaluation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model saved using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ModelCheckpoint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2352E6B-D9FF-5268-43F3-AD3AA59354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3093970"/>
              </p:ext>
            </p:extLst>
          </p:nvPr>
        </p:nvGraphicFramePr>
        <p:xfrm>
          <a:off x="3935384" y="3930267"/>
          <a:ext cx="3181696" cy="182880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886296">
                  <a:extLst>
                    <a:ext uri="{9D8B030D-6E8A-4147-A177-3AD203B41FA5}">
                      <a16:colId xmlns:a16="http://schemas.microsoft.com/office/drawing/2014/main" val="264053517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13160378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13853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Models Trained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64540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Max Epochs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2356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EarlyStopping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56196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Actual Epochs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9–26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008804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46B4D42-CE52-BCB1-5E66-192EC772E8A5}"/>
              </a:ext>
            </a:extLst>
          </p:cNvPr>
          <p:cNvSpPr txBox="1"/>
          <p:nvPr/>
        </p:nvSpPr>
        <p:spPr>
          <a:xfrm>
            <a:off x="2202180" y="6071487"/>
            <a:ext cx="96545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i="1" dirty="0" err="1">
                <a:solidFill>
                  <a:schemeClr val="accent1"/>
                </a:solidFill>
              </a:rPr>
              <a:t>EarlyStopping</a:t>
            </a:r>
            <a:r>
              <a:rPr lang="en-IN" sz="1400" i="1" dirty="0">
                <a:solidFill>
                  <a:schemeClr val="accent1"/>
                </a:solidFill>
              </a:rPr>
              <a:t> prevents overfitting, while </a:t>
            </a:r>
            <a:r>
              <a:rPr lang="en-IN" sz="1400" i="1" dirty="0" err="1">
                <a:solidFill>
                  <a:schemeClr val="accent1"/>
                </a:solidFill>
              </a:rPr>
              <a:t>ModelCheckpoint</a:t>
            </a:r>
            <a:r>
              <a:rPr lang="en-IN" sz="1400" i="1" dirty="0">
                <a:solidFill>
                  <a:schemeClr val="accent1"/>
                </a:solidFill>
              </a:rPr>
              <a:t> saves the best-performing model.</a:t>
            </a:r>
          </a:p>
        </p:txBody>
      </p:sp>
    </p:spTree>
    <p:extLst>
      <p:ext uri="{BB962C8B-B14F-4D97-AF65-F5344CB8AC3E}">
        <p14:creationId xmlns:p14="http://schemas.microsoft.com/office/powerpoint/2010/main" val="12930162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DD838-D67E-8BD9-F3E1-176542C9D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740" y="681037"/>
            <a:ext cx="10386060" cy="842963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&amp; VALIDATION LOSS CURVES</a:t>
            </a:r>
          </a:p>
        </p:txBody>
      </p:sp>
      <p:pic>
        <p:nvPicPr>
          <p:cNvPr id="4" name="Image 0" descr="cell36_img8.png">
            <a:extLst>
              <a:ext uri="{FF2B5EF4-FFF2-40B4-BE49-F238E27FC236}">
                <a16:creationId xmlns:a16="http://schemas.microsoft.com/office/drawing/2014/main" id="{B00D5041-399A-8583-632D-1633030B87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12777"/>
            <a:ext cx="10515600" cy="2291108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4EAFDA36-6A5B-CDA7-23C1-7EAF6B20E06C}"/>
              </a:ext>
            </a:extLst>
          </p:cNvPr>
          <p:cNvSpPr/>
          <p:nvPr/>
        </p:nvSpPr>
        <p:spPr>
          <a:xfrm>
            <a:off x="967740" y="4792662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validation losses decrease rapidly and stabilize across all three forecasting horizons.</a:t>
            </a:r>
          </a:p>
          <a:p>
            <a:pPr algn="ctr"/>
            <a:r>
              <a:rPr lang="en-US" sz="1400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EarlyStopping stops training when validation loss no longer improves, helping prevent overfitting.</a:t>
            </a:r>
          </a:p>
          <a:p>
            <a:pPr algn="ctr"/>
            <a:endParaRPr lang="en-US" sz="1250" i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72664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2">
            <a:extLst>
              <a:ext uri="{FF2B5EF4-FFF2-40B4-BE49-F238E27FC236}">
                <a16:creationId xmlns:a16="http://schemas.microsoft.com/office/drawing/2014/main" id="{84AA7AC1-25A8-6D02-D29A-2A9BED909C62}"/>
              </a:ext>
            </a:extLst>
          </p:cNvPr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EVALUTION — MSE / RMSE / MAE</a:t>
            </a:r>
            <a:endParaRPr lang="en-US" sz="3000" dirty="0"/>
          </a:p>
        </p:txBody>
      </p:sp>
      <p:graphicFrame>
        <p:nvGraphicFramePr>
          <p:cNvPr id="17" name="Table 0">
            <a:extLst>
              <a:ext uri="{FF2B5EF4-FFF2-40B4-BE49-F238E27FC236}">
                <a16:creationId xmlns:a16="http://schemas.microsoft.com/office/drawing/2014/main" id="{8216ADD5-7C6A-1800-FE86-5B0C2A30C1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9484408"/>
              </p:ext>
            </p:extLst>
          </p:nvPr>
        </p:nvGraphicFramePr>
        <p:xfrm>
          <a:off x="320040" y="1940815"/>
          <a:ext cx="6675120" cy="2377438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13350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5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5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50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50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96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Model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Horizon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MSE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RMSE ($)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MAE ($)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LSTM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1-day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699.30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26.44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17.37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SimpleRNN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1-day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399.13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19.98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12.52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LSTM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5-day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1419.73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37.68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25.31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SimpleRNN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5-day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1858.12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43.11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29.12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LSTM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10-day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2021.56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44.96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31.29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SimpleRNN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10-day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2459.55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49.59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32.89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" name="Text 3">
            <a:extLst>
              <a:ext uri="{FF2B5EF4-FFF2-40B4-BE49-F238E27FC236}">
                <a16:creationId xmlns:a16="http://schemas.microsoft.com/office/drawing/2014/main" id="{DCE88413-D549-4C59-3CA3-D491D58FDF21}"/>
              </a:ext>
            </a:extLst>
          </p:cNvPr>
          <p:cNvSpPr/>
          <p:nvPr/>
        </p:nvSpPr>
        <p:spPr>
          <a:xfrm>
            <a:off x="624840" y="450342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were inverse-transformed to real dollar values before computing metrics.</a:t>
            </a:r>
            <a:endParaRPr lang="en-US" sz="1150" dirty="0">
              <a:solidFill>
                <a:schemeClr val="accent1"/>
              </a:solidFill>
            </a:endParaRPr>
          </a:p>
        </p:txBody>
      </p:sp>
      <p:sp>
        <p:nvSpPr>
          <p:cNvPr id="19" name="Rectangle 1">
            <a:extLst>
              <a:ext uri="{FF2B5EF4-FFF2-40B4-BE49-F238E27FC236}">
                <a16:creationId xmlns:a16="http://schemas.microsoft.com/office/drawing/2014/main" id="{58512643-8674-AD6F-7D78-A623D6C231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6140" y="2303550"/>
            <a:ext cx="5009682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OBSERVATION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SimpleRNN performed best for 1-day forecasting.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LSTM achieved lower errors for 5-day and 10-day forecasting.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Prediction error increased with forecasting horizon. </a:t>
            </a:r>
          </a:p>
        </p:txBody>
      </p:sp>
    </p:spTree>
    <p:extLst>
      <p:ext uri="{BB962C8B-B14F-4D97-AF65-F5344CB8AC3E}">
        <p14:creationId xmlns:p14="http://schemas.microsoft.com/office/powerpoint/2010/main" val="28672943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8D6F6-98E2-F3BA-AC01-5B2F85911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ACTUAL vs PREDICTED CLOSING PRICE</a:t>
            </a:r>
          </a:p>
        </p:txBody>
      </p:sp>
      <p:pic>
        <p:nvPicPr>
          <p:cNvPr id="9" name="Image 0" descr="cell40_img9.png">
            <a:extLst>
              <a:ext uri="{FF2B5EF4-FFF2-40B4-BE49-F238E27FC236}">
                <a16:creationId xmlns:a16="http://schemas.microsoft.com/office/drawing/2014/main" id="{E5A64B04-D4AB-3012-598D-E6DD30D8DA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7375" y="1566545"/>
            <a:ext cx="5079610" cy="435133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E15453E-99AB-B73B-28D3-DE46A37B0E0E}"/>
              </a:ext>
            </a:extLst>
          </p:cNvPr>
          <p:cNvSpPr txBox="1"/>
          <p:nvPr/>
        </p:nvSpPr>
        <p:spPr>
          <a:xfrm>
            <a:off x="7490460" y="2459504"/>
            <a:ext cx="379476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</a:t>
            </a:r>
          </a:p>
          <a:p>
            <a:pPr>
              <a:buNone/>
            </a:pPr>
            <a:endParaRPr lang="en-US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models closely follow the actual closing price trend.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accuracy decreases as the forecasting horizon increases.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produces smoother and more consistent long-term predictions</a:t>
            </a:r>
            <a:r>
              <a:rPr lang="en-US" sz="14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0998383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F36E6-5680-D72A-AF58-630ED4704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 TUNING WITH GRIDSEARCHCV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DF3353-6087-C3E5-011C-D706B8856152}"/>
              </a:ext>
            </a:extLst>
          </p:cNvPr>
          <p:cNvSpPr txBox="1"/>
          <p:nvPr/>
        </p:nvSpPr>
        <p:spPr>
          <a:xfrm>
            <a:off x="1485900" y="1617772"/>
            <a:ext cx="2423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 Hyperparameters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C70611E-25B2-042E-1E60-9D692CEAC3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5274311"/>
              </p:ext>
            </p:extLst>
          </p:nvPr>
        </p:nvGraphicFramePr>
        <p:xfrm>
          <a:off x="1592580" y="2108716"/>
          <a:ext cx="3200400" cy="146304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546860">
                  <a:extLst>
                    <a:ext uri="{9D8B030D-6E8A-4147-A177-3AD203B41FA5}">
                      <a16:colId xmlns:a16="http://schemas.microsoft.com/office/drawing/2014/main" val="4003401196"/>
                    </a:ext>
                  </a:extLst>
                </a:gridCol>
                <a:gridCol w="1653540">
                  <a:extLst>
                    <a:ext uri="{9D8B030D-6E8A-4147-A177-3AD203B41FA5}">
                      <a16:colId xmlns:a16="http://schemas.microsoft.com/office/drawing/2014/main" val="42188395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Parameter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Best 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40221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Units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64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36329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i="0" dirty="0"/>
                        <a:t>Dropout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0.2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4130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Learning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0.005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538358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79DCA84-E3C8-BB19-FC3E-8836B599C895}"/>
              </a:ext>
            </a:extLst>
          </p:cNvPr>
          <p:cNvSpPr txBox="1"/>
          <p:nvPr/>
        </p:nvSpPr>
        <p:spPr>
          <a:xfrm>
            <a:off x="6431280" y="1617772"/>
            <a:ext cx="3048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GridSearchCV Results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5E91B8D4-1B7D-25E0-1781-F8B67897F5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2357174"/>
              </p:ext>
            </p:extLst>
          </p:nvPr>
        </p:nvGraphicFramePr>
        <p:xfrm>
          <a:off x="5295900" y="2108716"/>
          <a:ext cx="6758940" cy="146304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061321">
                  <a:extLst>
                    <a:ext uri="{9D8B030D-6E8A-4147-A177-3AD203B41FA5}">
                      <a16:colId xmlns:a16="http://schemas.microsoft.com/office/drawing/2014/main" val="1009521949"/>
                    </a:ext>
                  </a:extLst>
                </a:gridCol>
                <a:gridCol w="1642255">
                  <a:extLst>
                    <a:ext uri="{9D8B030D-6E8A-4147-A177-3AD203B41FA5}">
                      <a16:colId xmlns:a16="http://schemas.microsoft.com/office/drawing/2014/main" val="2830021865"/>
                    </a:ext>
                  </a:extLst>
                </a:gridCol>
                <a:gridCol w="1351788">
                  <a:extLst>
                    <a:ext uri="{9D8B030D-6E8A-4147-A177-3AD203B41FA5}">
                      <a16:colId xmlns:a16="http://schemas.microsoft.com/office/drawing/2014/main" val="3397149878"/>
                    </a:ext>
                  </a:extLst>
                </a:gridCol>
                <a:gridCol w="1351788">
                  <a:extLst>
                    <a:ext uri="{9D8B030D-6E8A-4147-A177-3AD203B41FA5}">
                      <a16:colId xmlns:a16="http://schemas.microsoft.com/office/drawing/2014/main" val="410138062"/>
                    </a:ext>
                  </a:extLst>
                </a:gridCol>
                <a:gridCol w="1351788">
                  <a:extLst>
                    <a:ext uri="{9D8B030D-6E8A-4147-A177-3AD203B41FA5}">
                      <a16:colId xmlns:a16="http://schemas.microsoft.com/office/drawing/2014/main" val="20970555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Units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Dropout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CV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Rank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51620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0.005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-0.001475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993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-0.001511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28363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0.005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-0.002110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668194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2C902AFD-6205-031F-E99F-CE724DFD9CE8}"/>
              </a:ext>
            </a:extLst>
          </p:cNvPr>
          <p:cNvSpPr txBox="1"/>
          <p:nvPr/>
        </p:nvSpPr>
        <p:spPr>
          <a:xfrm>
            <a:off x="3451860" y="3989784"/>
            <a:ext cx="1844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 </a:t>
            </a:r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6E34D6A0-57DF-A516-BDE9-0CD11D768A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1860" y="4286200"/>
            <a:ext cx="5727786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Best hyperparameters: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64 units, Dropout = 0.2, Learning Rate = 0.005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Achieved the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highest Cross-Validation score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(Rank 1).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Selected as the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final LSTM configuration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Improved prediction accuracy over the default mode </a:t>
            </a:r>
          </a:p>
        </p:txBody>
      </p:sp>
    </p:spTree>
    <p:extLst>
      <p:ext uri="{BB962C8B-B14F-4D97-AF65-F5344CB8AC3E}">
        <p14:creationId xmlns:p14="http://schemas.microsoft.com/office/powerpoint/2010/main" val="40646773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947E8B0A-98CD-E843-4328-DD21746C7C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878" y="1127194"/>
            <a:ext cx="4790123" cy="3804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7B5205D-B1D4-90AB-19B2-3ADF6758E832}"/>
              </a:ext>
            </a:extLst>
          </p:cNvPr>
          <p:cNvSpPr txBox="1"/>
          <p:nvPr/>
        </p:nvSpPr>
        <p:spPr>
          <a:xfrm>
            <a:off x="1341120" y="457200"/>
            <a:ext cx="8031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COMPARISON — RMSE BY HORIZON</a:t>
            </a:r>
            <a:endParaRPr lang="en-IN" sz="28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EB25E1C-4920-82F2-F525-ADC9276B39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8305938"/>
              </p:ext>
            </p:extLst>
          </p:nvPr>
        </p:nvGraphicFramePr>
        <p:xfrm>
          <a:off x="5684520" y="1417320"/>
          <a:ext cx="6347460" cy="201168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2001644">
                  <a:extLst>
                    <a:ext uri="{9D8B030D-6E8A-4147-A177-3AD203B41FA5}">
                      <a16:colId xmlns:a16="http://schemas.microsoft.com/office/drawing/2014/main" val="3716777313"/>
                    </a:ext>
                  </a:extLst>
                </a:gridCol>
                <a:gridCol w="1798269">
                  <a:extLst>
                    <a:ext uri="{9D8B030D-6E8A-4147-A177-3AD203B41FA5}">
                      <a16:colId xmlns:a16="http://schemas.microsoft.com/office/drawing/2014/main" val="2541496733"/>
                    </a:ext>
                  </a:extLst>
                </a:gridCol>
                <a:gridCol w="1669822">
                  <a:extLst>
                    <a:ext uri="{9D8B030D-6E8A-4147-A177-3AD203B41FA5}">
                      <a16:colId xmlns:a16="http://schemas.microsoft.com/office/drawing/2014/main" val="918120197"/>
                    </a:ext>
                  </a:extLst>
                </a:gridCol>
                <a:gridCol w="877725">
                  <a:extLst>
                    <a:ext uri="{9D8B030D-6E8A-4147-A177-3AD203B41FA5}">
                      <a16:colId xmlns:a16="http://schemas.microsoft.com/office/drawing/2014/main" val="9550014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Forecast Horizon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LSTM RMSE ($)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SimpleRNN RMSE ($)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Better Model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9595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1-Day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26.44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/>
                        <a:t>19.98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SimpleRNN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09252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5-Day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/>
                        <a:t>37.68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43.11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LSTM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7455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10-Day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/>
                        <a:t>44.96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49.59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LSTM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646195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8D73E9E0-2344-A2A4-A5B8-CD7E9819034A}"/>
              </a:ext>
            </a:extLst>
          </p:cNvPr>
          <p:cNvSpPr txBox="1"/>
          <p:nvPr/>
        </p:nvSpPr>
        <p:spPr>
          <a:xfrm>
            <a:off x="6316267" y="3865900"/>
            <a:ext cx="532185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accent1"/>
                </a:solidFill>
              </a:rPr>
              <a:t>OBSERVATION</a:t>
            </a:r>
          </a:p>
          <a:p>
            <a:pPr>
              <a:buNone/>
            </a:pPr>
            <a:endParaRPr lang="en-US" b="1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1-Day:</a:t>
            </a:r>
            <a:r>
              <a:rPr lang="en-US" dirty="0"/>
              <a:t>  SimpleRNN performs best (RMSE = </a:t>
            </a:r>
            <a:r>
              <a:rPr lang="en-US" b="1" dirty="0"/>
              <a:t>19.98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5-Day:</a:t>
            </a:r>
            <a:r>
              <a:rPr lang="en-US" dirty="0"/>
              <a:t>  LSTM performs better (RMSE = </a:t>
            </a:r>
            <a:r>
              <a:rPr lang="en-US" b="1" dirty="0"/>
              <a:t>37.68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10-Day:</a:t>
            </a:r>
            <a:r>
              <a:rPr lang="en-US" dirty="0"/>
              <a:t>  LSTM performs better (RMSE = </a:t>
            </a:r>
            <a:r>
              <a:rPr lang="en-US" b="1" dirty="0"/>
              <a:t>44.96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RMSE increases</a:t>
            </a:r>
            <a:r>
              <a:rPr lang="en-US" dirty="0"/>
              <a:t> as forecast horizon increases.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LSTM is preferred for longer-term forecasting.</a:t>
            </a:r>
            <a:endParaRPr lang="en-US" b="1" dirty="0">
              <a:solidFill>
                <a:schemeClr val="accent1"/>
              </a:solidFill>
            </a:endParaRPr>
          </a:p>
          <a:p>
            <a:pPr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000783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1835C-01CA-BC9F-9225-7F5789E87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0235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USE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1833F-5F2E-641F-3A7F-1B510DED7F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Trading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buy/sell decision making.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integrated with trading systems. 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Management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estimate future price movement. 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Assists in portfolio risk analysis.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Investment Planning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short- and medium-term investment decisions. 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portfolio allocation.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Research &amp; Analysis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Serves as a baseline for comparing advanced forecasting models.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02217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CDBB4-6DC4-EA52-6794-D32756C71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030" y="469602"/>
            <a:ext cx="10515600" cy="671195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INSIGHTS &amp; CONCLUSION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38198A-3777-BF25-35E0-70705C6E279D}"/>
              </a:ext>
            </a:extLst>
          </p:cNvPr>
          <p:cNvSpPr txBox="1"/>
          <p:nvPr/>
        </p:nvSpPr>
        <p:spPr>
          <a:xfrm>
            <a:off x="1506583" y="4402596"/>
            <a:ext cx="101106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LSTM is the preferred model for medium- and long-term forecasting, while SimpleRNN is effective for short-term stock price prediction.</a:t>
            </a:r>
            <a:endParaRPr lang="en-IN" i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268D3095-3933-673E-2D2D-37C89C6B3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8105" y="1719667"/>
            <a:ext cx="754162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Both LSTM and SimpleRNN successfully learned Tesla stock price patterns.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SimpleRNN achieved the lowest error for 1-day forecasting.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LSTM outperformed SimpleRNN for 5-day and 10-day forecasting due to its ability to capture long-term dependencies.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 tuning improved LSTM performance and reduced prediction error.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Overall, LSTM is the preferred model for medium- and long-term stock price prediction, while SimpleRNN is suitable for short-term forecasting. </a:t>
            </a:r>
          </a:p>
        </p:txBody>
      </p:sp>
    </p:spTree>
    <p:extLst>
      <p:ext uri="{BB962C8B-B14F-4D97-AF65-F5344CB8AC3E}">
        <p14:creationId xmlns:p14="http://schemas.microsoft.com/office/powerpoint/2010/main" val="4235592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</TotalTime>
  <Words>1272</Words>
  <Application>Microsoft Office PowerPoint</Application>
  <PresentationFormat>Widescreen</PresentationFormat>
  <Paragraphs>308</Paragraphs>
  <Slides>18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Light</vt:lpstr>
      <vt:lpstr>Cambria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UNIVARIATE ANALYSIS – FEATURE DISTRIBUTION </vt:lpstr>
      <vt:lpstr>BIVARIATE ANALYSIS- PRICE TREND &amp; TRADING VOLUME</vt:lpstr>
      <vt:lpstr>MULTIVARIATE ANALYSIS – CORRELATION HEAT MAP</vt:lpstr>
      <vt:lpstr>FEATURE ENGINEERING &amp; SCALING </vt:lpstr>
      <vt:lpstr>SEQUENCE CREATION –SLIDING 60-DAY WINDOW</vt:lpstr>
      <vt:lpstr>MODEL ARCHITECTURE – SIMPLERNN vs LSTM</vt:lpstr>
      <vt:lpstr>TRAINING APPROACH </vt:lpstr>
      <vt:lpstr>TRAINING &amp; VALIDATION LOSS CURVES</vt:lpstr>
      <vt:lpstr>PowerPoint Presentation</vt:lpstr>
      <vt:lpstr>ACTUAL vs PREDICTED CLOSING PRICE</vt:lpstr>
      <vt:lpstr>HYPERPARAMETER TUNING WITH GRIDSEARCHCV</vt:lpstr>
      <vt:lpstr>PowerPoint Presentation</vt:lpstr>
      <vt:lpstr>BUSINESS USE CASES</vt:lpstr>
      <vt:lpstr>INSIGHTS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logesh kumar</dc:creator>
  <cp:lastModifiedBy>logesh kumar</cp:lastModifiedBy>
  <cp:revision>6</cp:revision>
  <dcterms:created xsi:type="dcterms:W3CDTF">2026-08-07T01:24:56Z</dcterms:created>
  <dcterms:modified xsi:type="dcterms:W3CDTF">2026-08-07T13:10:07Z</dcterms:modified>
</cp:coreProperties>
</file>